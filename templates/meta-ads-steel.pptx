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embeddedFontLst>
    <p:embeddedFont>
      <p:font typeface="Poppins"/>
      <p:regular r:id="rId10"/>
      <p:bold r:id="rId11"/>
      <p:italic r:id="rId12"/>
      <p:boldItalic r:id="rId13"/>
    </p:embeddedFont>
    <p:embeddedFont>
      <p:font typeface="Poppins Medium"/>
      <p:regular r:id="rId14"/>
      <p:bold r:id="rId15"/>
      <p:italic r:id="rId16"/>
      <p:boldItalic r:id="rId17"/>
    </p:embeddedFont>
    <p:embeddedFont>
      <p:font typeface="Poppins SemiBold"/>
      <p:regular r:id="rId18"/>
      <p:bold r:id="rId19"/>
      <p:italic r:id="rId20"/>
      <p:boldItalic r:id="rId21"/>
    </p:embeddedFont>
    <p:embeddedFont>
      <p:font typeface="Open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ED68FC-94E8-4026-9952-6AE550FBBC15}">
  <a:tblStyle styleId="{94ED68FC-94E8-4026-9952-6AE550FBBC1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SemiBold-italic.fntdata"/><Relationship Id="rId22" Type="http://schemas.openxmlformats.org/officeDocument/2006/relationships/font" Target="fonts/OpenSans-regular.fntdata"/><Relationship Id="rId21" Type="http://schemas.openxmlformats.org/officeDocument/2006/relationships/font" Target="fonts/PoppinsSemiBold-boldItalic.fntdata"/><Relationship Id="rId24" Type="http://schemas.openxmlformats.org/officeDocument/2006/relationships/font" Target="fonts/OpenSans-italic.fntdata"/><Relationship Id="rId23" Type="http://schemas.openxmlformats.org/officeDocument/2006/relationships/font" Target="fonts/OpenSans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font" Target="fonts/Poppins-bold.fntdata"/><Relationship Id="rId10" Type="http://schemas.openxmlformats.org/officeDocument/2006/relationships/font" Target="fonts/Poppins-regular.fntdata"/><Relationship Id="rId13" Type="http://schemas.openxmlformats.org/officeDocument/2006/relationships/font" Target="fonts/Poppins-boldItalic.fntdata"/><Relationship Id="rId12" Type="http://schemas.openxmlformats.org/officeDocument/2006/relationships/font" Target="fonts/Poppins-italic.fntdata"/><Relationship Id="rId15" Type="http://schemas.openxmlformats.org/officeDocument/2006/relationships/font" Target="fonts/PoppinsMedium-bold.fntdata"/><Relationship Id="rId14" Type="http://schemas.openxmlformats.org/officeDocument/2006/relationships/font" Target="fonts/PoppinsMedium-regular.fntdata"/><Relationship Id="rId17" Type="http://schemas.openxmlformats.org/officeDocument/2006/relationships/font" Target="fonts/PoppinsMedium-boldItalic.fntdata"/><Relationship Id="rId16" Type="http://schemas.openxmlformats.org/officeDocument/2006/relationships/font" Target="fonts/PoppinsMedium-italic.fntdata"/><Relationship Id="rId19" Type="http://schemas.openxmlformats.org/officeDocument/2006/relationships/font" Target="fonts/PoppinsSemiBold-bold.fntdata"/><Relationship Id="rId18" Type="http://schemas.openxmlformats.org/officeDocument/2006/relationships/font" Target="fonts/Poppins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11.png"/><Relationship Id="rId5" Type="http://schemas.openxmlformats.org/officeDocument/2006/relationships/image" Target="../media/image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9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9" Type="http://schemas.openxmlformats.org/officeDocument/2006/relationships/image" Target="../media/image1.png"/><Relationship Id="rId1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2.png"/><Relationship Id="rId7" Type="http://schemas.openxmlformats.org/officeDocument/2006/relationships/image" Target="../media/image13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chemeClr val="accent4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{{REPORT_TITLE}}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06630" y="5533973"/>
            <a:ext cx="5300000" cy="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non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{{ACCOUNT_NAME}}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506630" y="5966972"/>
            <a:ext cx="3276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{{REPORT_DATE}}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5892000" y="6119872"/>
            <a:ext cx="600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{{ACCOUNT_HEALTH_BADGE}}</a:t>
            </a:r>
            <a:endParaRPr/>
          </a:p>
        </p:txBody>
      </p:sp>
      <p:sp>
        <p:nvSpPr>
          <p:cNvPr id="28" name="Google Shape;28;p4"/>
          <p:cNvSpPr txBox="1"/>
          <p:nvPr/>
        </p:nvSpPr>
        <p:spPr>
          <a:xfrm>
            <a:off x="5892000" y="6420192"/>
            <a:ext cx="60000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{{BUDGET_SUMMARY}}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oogle Shape;33;p5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34" name="Google Shape;34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" name="Google Shape;35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36" name="Google Shape;36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37" name="Google Shape;37;p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38" name="Google Shape;38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39" name="Google Shape;39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{{METRIC_SPEND}}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5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42" name="Google Shape;42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47" name="Google Shape;47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{{METRIC_REACH}}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5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0" name="Google Shape;50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55" name="Google Shape;55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{{METRIC_IMPRESSIONS}}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5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58" name="Google Shape;58;p5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5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5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5"/>
            <p:cNvGrpSpPr/>
            <p:nvPr/>
          </p:nvGrpSpPr>
          <p:grpSpPr>
            <a:xfrm>
              <a:off x="1112490" y="1359067"/>
              <a:ext cx="1485300" cy="553237"/>
              <a:chOff x="1112490" y="1363887"/>
              <a:chExt cx="1485300" cy="553237"/>
            </a:xfrm>
          </p:grpSpPr>
          <p:sp>
            <p:nvSpPr>
              <p:cNvPr id="63" name="Google Shape;63;p5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5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{{RESULT_LABEL}}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5"/>
              <p:cNvSpPr txBox="1"/>
              <p:nvPr/>
            </p:nvSpPr>
            <p:spPr>
              <a:xfrm>
                <a:off x="1112490" y="1593124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{{METRIC_RESULTS}}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5" name="Google Shape;65;p5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5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67" name="Google Shape;67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8" name="Google Shape;68;p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69" name="Google Shape;69;p5"/>
          <p:cNvGrpSpPr/>
          <p:nvPr/>
        </p:nvGrpSpPr>
        <p:grpSpPr>
          <a:xfrm>
            <a:off x="4655379" y="1486708"/>
            <a:ext cx="1834048" cy="683137"/>
            <a:chOff x="1112490" y="1363887"/>
            <a:chExt cx="1485300" cy="553237"/>
          </a:xfrm>
        </p:grpSpPr>
        <p:sp>
          <p:nvSpPr>
            <p:cNvPr id="70" name="Google Shape;70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{{METRIC_CTR}}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5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" name="Google Shape;73;p5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74" name="Google Shape;74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5" name="Google Shape;75;p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6" name="Google Shape;76;p5"/>
          <p:cNvGrpSpPr/>
          <p:nvPr/>
        </p:nvGrpSpPr>
        <p:grpSpPr>
          <a:xfrm>
            <a:off x="4655379" y="2767704"/>
            <a:ext cx="1834048" cy="683137"/>
            <a:chOff x="1112490" y="1363887"/>
            <a:chExt cx="1485300" cy="553237"/>
          </a:xfrm>
        </p:grpSpPr>
        <p:sp>
          <p:nvSpPr>
            <p:cNvPr id="77" name="Google Shape;77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{{COST_LABEL}}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{{METRIC_CPR}}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5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0" name="Google Shape;80;p5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1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2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3" name="Google Shape;83;p5"/>
          <p:cNvGrpSpPr/>
          <p:nvPr/>
        </p:nvGrpSpPr>
        <p:grpSpPr>
          <a:xfrm>
            <a:off x="4655379" y="4048700"/>
            <a:ext cx="1834048" cy="683137"/>
            <a:chOff x="1112490" y="1363887"/>
            <a:chExt cx="1485300" cy="553237"/>
          </a:xfrm>
        </p:grpSpPr>
        <p:sp>
          <p:nvSpPr>
            <p:cNvPr id="84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CPC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{{METRIC_CPC}}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79;p5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4" name="Google Shape;80;p5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05" name="Google Shape;81;p5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6" name="Google Shape;82;p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07" name="Google Shape;83;p5"/>
          <p:cNvGrpSpPr/>
          <p:nvPr/>
        </p:nvGrpSpPr>
        <p:grpSpPr>
          <a:xfrm>
            <a:off x="4655379" y="5329696"/>
            <a:ext cx="1834048" cy="683137"/>
            <a:chOff x="1112490" y="1363887"/>
            <a:chExt cx="1485300" cy="553237"/>
          </a:xfrm>
        </p:grpSpPr>
        <p:sp>
          <p:nvSpPr>
            <p:cNvPr id="108" name="Google Shape;84;p5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5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{{METRIC_8_LABEL}}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85;p5"/>
            <p:cNvSpPr txBox="1"/>
            <p:nvPr/>
          </p:nvSpPr>
          <p:spPr>
            <a:xfrm>
              <a:off x="1112490" y="1593124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{{METRIC_8_VALUE}}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" name="Google Shape;86;p5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87" name="Google Shape;87;p5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88" name="Google Shape;88;p5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89" name="Google Shape;89;p5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0" name="Google Shape;90;p5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1" name="Google Shape;91;p5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{{CAMPAIGN_SUMMARY}}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92" name="Google Shape;92;p5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93" name="Google Shape;93;p5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94" name="Google Shape;94;p5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95" name="Google Shape;95;p5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6" name="Google Shape;96;p5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83544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98" name="Google Shape;98;p5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99" name="Google Shape;99;p5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" name="Google Shape;100;p5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{{DATE_RANGE}}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379359" y="324692"/>
            <a:ext cx="11433300" cy="8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non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{{CAMPAIGN_NAME}}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02" name="Google Shape;102;p5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300"/>
              <a:buFont typeface="Arial"/>
              <a:buChar char="●"/>
            </a:pPr>
            <a:r>
              <a:rPr b="1" i="0" lang="en-US" sz="12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{{KEY_INSIGHTS}}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{94ED68FC-94E8-4026-9952-6AE550FBBC15}</a:tableStyleId>
              </a:tblPr>
              <a:tblGrid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  <a:gridCol w="11232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{{PERIOD_CPR1_LABEL}}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{{PERIOD_RESULT2_LABEL}}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{{PERIOD_CPR2_LABEL}}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{{PERIOD_CPR2}}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{{MTD_MONTH}}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{{MTD_SPEND}}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{{MTD_REACH}}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{{MTD_IMPRESSIONS}}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{{MTD_CTR}}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{{MTD_CPC}}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{{MTD_CPR1}}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{{MTD_RESULT2}}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{{MTD_CPR2}}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7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117" name="Google Shape;117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18" name="Google Shape;11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9" name="Google Shape;11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0" name="Google Shape;12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1" name="Google Shape;121;p7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2" name="Google Shape;12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3" name="Google Shape;12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4" name="Google Shape;124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25" name="Google Shape;125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26" name="Google Shape;126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27" name="Google Shape;127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28" name="Google Shape;128;p7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29" name="Google Shape;129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0" name="Google Shape;130;p7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1" name="Google Shape;131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32" name="Google Shape;13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3" name="Google Shape;13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34" name="Google Shape;13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35" name="Google Shape;135;p7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36" name="Google Shape;13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CPL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LEAD)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" name="Google Shape;137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lead generated by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8" name="Google Shape;138;p7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139" name="Google Shape;139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0" name="Google Shape;140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1" name="Google Shape;141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2" name="Google Shape;142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43" name="Google Shape;143;p7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44" name="Google Shape;144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5" name="Google Shape;145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6" name="Google Shape;146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47" name="Google Shape;147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8" name="Google Shape;148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49" name="Google Shape;149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0" name="Google Shape;150;p7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1" name="Google Shape;151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LEADS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2" name="Google Shape;152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shown interest in your product 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53" name="Google Shape;153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54" name="Google Shape;15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5" name="Google Shape;15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56" name="Google Shape;15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57" name="Google Shape;157;p7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58" name="Google Shape;15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RESULT)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59" name="Google Shape;15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outcome (e.g., conversion, lead, etc.)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" name="Google Shape;160;p7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161" name="Google Shape;161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2" name="Google Shape;162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63" name="Google Shape;163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64" name="Google Shape;164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65" name="Google Shape;165;p7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66" name="Google Shape;166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7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68" name="Google Shape;168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69" name="Google Shape;169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0" name="Google Shape;170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1" name="Google Shape;171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2" name="Google Shape;172;p7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73" name="Google Shape;173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4" name="Google Shape;174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75" name="Google Shape;175;p7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176" name="Google Shape;176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" name="Google Shape;177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78" name="Google Shape;178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79" name="Google Shape;179;p7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0" name="Google Shape;180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7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82" name="Google Shape;182;p7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183" name="Google Shape;183;p7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84" name="Google Shape;184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5" name="Google Shape;185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86" name="Google Shape;186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87" name="Google Shape;187;p7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88" name="Google Shape;188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189" name="Google Shape;189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0" name="Google Shape;190;p7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1" name="Google Shape;191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2" name="Google Shape;192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193" name="Google Shape;193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194" name="Google Shape;194;p7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195" name="Google Shape;195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05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7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198" name="Google Shape;198;p7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9" name="Google Shape;199;p7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200" name="Google Shape;200;p7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201" name="Google Shape;201;p7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202" name="Google Shape;202;p7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7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0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E2936"/>
      </a:accent5>
      <a:accent6>
        <a:srgbClr val="141C26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