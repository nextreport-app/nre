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Light Theme Top Accent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gradFill>
            <a:gsLst>
              <a:gs pos="0">
                <a:srgbClr val="016ED9">
                  <a:alpha val="38000"/>
                </a:srgbClr>
              </a:gs>
              <a:gs pos="35000">
                <a:srgbClr val="FF3200">
                  <a:alpha val="32000"/>
                </a:srgbClr>
              </a:gs>
              <a:gs pos="70000">
                <a:srgbClr val="FFB300">
                  <a:alpha val="30000"/>
                </a:srgbClr>
              </a:gs>
              <a:gs pos="100000">
                <a:srgbClr val="DA32D0">
                  <a:alpha val="3500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0" lIns="0" rIns="0" tIns="0"/>
          <a:lstStyle/>
          <a:p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gradFill>
            <a:gsLst>
              <a:gs pos="0">
                <a:srgbClr val="FFFFFF"/>
              </a:gs>
              <a:gs pos="55000">
                <a:srgbClr val="FDF8F3"/>
              </a:gs>
              <a:gs pos="100000">
                <a:srgbClr val="F3EDE5"/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Light Theme Warm Glow"/>
          <p:cNvSpPr/>
          <p:nvPr/>
        </p:nvSpPr>
        <p:spPr>
          <a:xfrm>
            <a:off x="8382000" y="4572000"/>
            <a:ext cx="3810000" cy="2286000"/>
          </a:xfrm>
          <a:prstGeom prst="ellipse">
            <a:avLst/>
          </a:prstGeom>
          <a:gradFill rotWithShape="1">
            <a:gsLst>
              <a:gs pos="0">
                <a:srgbClr val="FFB300">
                  <a:alpha val="9000"/>
                </a:srgbClr>
              </a:gs>
              <a:gs pos="100000">
                <a:srgbClr val="FFB300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0" lIns="0" rIns="0" tIns="0"/>
          <a:lstStyle/>
          <a:p>
            <a:endParaRPr/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0D1B2E"/>
                </a:solidFill>
                <a:latin typeface="Poppins"/>
                <a:ea typeface="Poppins"/>
                <a:cs typeface="Poppins"/>
                <a:sym typeface="Poppins"/>
              </a:rPr>
              <a:t>Google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rgbClr val="0D1B2E"/>
                </a:solidFill>
                <a:latin typeface="Poppins"/>
                <a:ea typeface="Poppins"/>
                <a:cs typeface="Poppins"/>
                <a:sym typeface="Poppins"/>
              </a:rPr>
              <a:t>Analytics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D1B2E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E5DDD0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E5DDD0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E5DDD0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 w="9525">
              <a:solidFill>
                <a:srgbClr val="E5DDD0"/>
              </a:solidFill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rgbClr val="1E3A5F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E5DDD0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E5DDD0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E5DDD0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" name="Google Shape;79;p5"/>
          <p:cNvSpPr/>
          <p:nvPr/>
        </p:nvSpPr>
        <p:spPr>
          <a:xfrm>
            <a:off x="3593639" y="5145377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 w="9525">
            <a:solidFill>
              <a:srgbClr val="E5DDD0"/>
            </a:solidFill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4" name="Google Shape;80;p5"/>
          <p:cNvGrpSpPr/>
          <p:nvPr/>
        </p:nvGrpSpPr>
        <p:grpSpPr>
          <a:xfrm>
            <a:off x="3714017" y="5302505"/>
            <a:ext cx="717528" cy="717528"/>
            <a:chOff x="3105456" y="1218956"/>
            <a:chExt cx="1118516" cy="1118516"/>
          </a:xfrm>
        </p:grpSpPr>
        <p:sp>
          <p:nvSpPr>
            <p:cNvPr id="105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107" name="Google Shape;83;p5"/>
          <p:cNvGrpSpPr/>
          <p:nvPr/>
        </p:nvGrpSpPr>
        <p:grpSpPr>
          <a:xfrm>
            <a:off x="4655379" y="5329696"/>
            <a:ext cx="1834048" cy="683137"/>
            <a:chOff x="1112490" y="1363887"/>
            <a:chExt cx="1485300" cy="553237"/>
          </a:xfrm>
        </p:grpSpPr>
        <p:sp>
          <p:nvSpPr>
            <p:cNvPr id="108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rgbClr val="1E3A5F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{{METRIC_8_LABEL}}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{{METRIC_8_VALUE}}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0D1B2E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0D1B2E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D1B2E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0D1B2E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0D1B2E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0D1B2E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rgbClr val="EDE6DA"/>
              </a:gs>
              <a:gs pos="50000">
                <a:srgbClr val="D9CCB8"/>
              </a:gs>
              <a:gs pos="100000">
                <a:srgbClr val="EDE6DA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E5DDD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1B2E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MONTHLY CAMPAIGN PERFORMANCE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2800" u="none" cap="none" strike="noStrike">
                <a:solidFill>
                  <a:srgbClr val="0D1B2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E5DDD0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E5DDD0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E5DDD0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E5DDD0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E5DDD0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E5DDD0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E5DDD0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E5DDD0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E5DDD0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E5DDD0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E5DDD0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 w="9525">
                  <a:solidFill>
                    <a:srgbClr val="E5DDD0"/>
                  </a:solidFill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0D1B2E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0D1B2E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D1B2E"/>
      </a:dk1>
      <a:lt1>
        <a:srgbClr val="0D1B2E"/>
      </a:lt1>
      <a:dk2>
        <a:srgbClr val="4A5568"/>
      </a:dk2>
      <a:lt2>
        <a:srgbClr val="FFFFFF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FFFFFF"/>
      </a:accent5>
      <a:accent6>
        <a:srgbClr val="FAF8F5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