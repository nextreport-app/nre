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embeddedFontLst>
    <p:embeddedFont>
      <p:font typeface="Poppins"/>
      <p:regular r:id="rId10"/>
      <p:bold r:id="rId11"/>
      <p:italic r:id="rId12"/>
      <p:boldItalic r:id="rId13"/>
    </p:embeddedFont>
    <p:embeddedFont>
      <p:font typeface="Poppins Medium"/>
      <p:regular r:id="rId14"/>
      <p:bold r:id="rId15"/>
      <p:italic r:id="rId16"/>
      <p:boldItalic r:id="rId17"/>
    </p:embeddedFont>
    <p:embeddedFont>
      <p:font typeface="Poppins SemiBold"/>
      <p:regular r:id="rId18"/>
      <p:bold r:id="rId19"/>
      <p:italic r:id="rId20"/>
      <p:boldItalic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ED68FC-94E8-4026-9952-6AE550FBBC15}">
  <a:tblStyle styleId="{94ED68FC-94E8-4026-9952-6AE550FBBC1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SemiBold-italic.fntdata"/><Relationship Id="rId22" Type="http://schemas.openxmlformats.org/officeDocument/2006/relationships/font" Target="fonts/OpenSans-regular.fntdata"/><Relationship Id="rId21" Type="http://schemas.openxmlformats.org/officeDocument/2006/relationships/font" Target="fonts/PoppinsSemiBold-boldItalic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Poppins-bold.fntdata"/><Relationship Id="rId10" Type="http://schemas.openxmlformats.org/officeDocument/2006/relationships/font" Target="fonts/Poppins-regular.fntdata"/><Relationship Id="rId13" Type="http://schemas.openxmlformats.org/officeDocument/2006/relationships/font" Target="fonts/Poppins-boldItalic.fntdata"/><Relationship Id="rId12" Type="http://schemas.openxmlformats.org/officeDocument/2006/relationships/font" Target="fonts/Poppins-italic.fntdata"/><Relationship Id="rId15" Type="http://schemas.openxmlformats.org/officeDocument/2006/relationships/font" Target="fonts/PoppinsMedium-bold.fntdata"/><Relationship Id="rId14" Type="http://schemas.openxmlformats.org/officeDocument/2006/relationships/font" Target="fonts/PoppinsMedium-regular.fntdata"/><Relationship Id="rId17" Type="http://schemas.openxmlformats.org/officeDocument/2006/relationships/font" Target="fonts/PoppinsMedium-boldItalic.fntdata"/><Relationship Id="rId16" Type="http://schemas.openxmlformats.org/officeDocument/2006/relationships/font" Target="fonts/PoppinsMedium-italic.fntdata"/><Relationship Id="rId19" Type="http://schemas.openxmlformats.org/officeDocument/2006/relationships/font" Target="fonts/PoppinsSemiBold-bold.fntdata"/><Relationship Id="rId18" Type="http://schemas.openxmlformats.org/officeDocument/2006/relationships/font" Target="fonts/Poppins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" name="Google Shape;1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6015135" y="472750"/>
            <a:ext cx="5834743" cy="5834743"/>
          </a:xfrm>
          <a:prstGeom prst="ellipse">
            <a:avLst/>
          </a:prstGeom>
          <a:gradFill>
            <a:gsLst>
              <a:gs pos="0">
                <a:srgbClr val="1B2C67"/>
              </a:gs>
              <a:gs pos="5000">
                <a:srgbClr val="1B2C67"/>
              </a:gs>
              <a:gs pos="100000">
                <a:srgbClr val="016ED9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 b="0" l="769" r="769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1250" l="769" r="2000" t="0"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/>
        </p:nvSpPr>
        <p:spPr>
          <a:xfrm>
            <a:off x="11352213" y="6416675"/>
            <a:ext cx="4318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13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9.png"/><Relationship Id="rId13" Type="http://schemas.openxmlformats.org/officeDocument/2006/relationships/image" Target="../media/image12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9" Type="http://schemas.openxmlformats.org/officeDocument/2006/relationships/image" Target="../media/image1.png"/><Relationship Id="rId14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2.png"/><Relationship Id="rId7" Type="http://schemas.openxmlformats.org/officeDocument/2006/relationships/image" Target="../media/image13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 rotWithShape="1">
          <a:blip r:embed="rId3">
            <a:alphaModFix/>
          </a:blip>
          <a:srcRect b="383" l="0" r="0" t="383"/>
          <a:stretch/>
        </p:blipFill>
        <p:spPr>
          <a:xfrm>
            <a:off x="5556826" y="208686"/>
            <a:ext cx="6749049" cy="6697428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/>
          <p:nvPr/>
        </p:nvSpPr>
        <p:spPr>
          <a:xfrm>
            <a:off x="506625" y="741625"/>
            <a:ext cx="6082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Meta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US" sz="6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"/>
          <p:cNvSpPr txBox="1"/>
          <p:nvPr/>
        </p:nvSpPr>
        <p:spPr>
          <a:xfrm>
            <a:off x="506629" y="1572619"/>
            <a:ext cx="505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chemeClr val="accent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{{REPORT_TITLE}}</a:t>
            </a:r>
            <a:endParaRPr b="0" i="0" sz="2000" u="none" cap="none" strike="noStrike">
              <a:solidFill>
                <a:schemeClr val="accent4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506630" y="5061635"/>
            <a:ext cx="1745519" cy="331071"/>
          </a:xfrm>
          <a:prstGeom prst="roundRect">
            <a:avLst>
              <a:gd fmla="val 9840" name="adj"/>
            </a:avLst>
          </a:prstGeom>
          <a:gradFill>
            <a:gsLst>
              <a:gs pos="0">
                <a:schemeClr val="accent2"/>
              </a:gs>
              <a:gs pos="5000">
                <a:schemeClr val="accent2"/>
              </a:gs>
              <a:gs pos="41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PRESENTED 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"/>
          <p:cNvSpPr txBox="1"/>
          <p:nvPr/>
        </p:nvSpPr>
        <p:spPr>
          <a:xfrm>
            <a:off x="506630" y="5533973"/>
            <a:ext cx="53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non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{{ACCOUNT_NAME}}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506630" y="5966972"/>
            <a:ext cx="327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{{REPORT_DATE}}</a:t>
            </a:r>
            <a:endParaRPr b="0" i="0" sz="12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" name="Google Shape;27;p4"/>
          <p:cNvSpPr txBox="1"/>
          <p:nvPr/>
        </p:nvSpPr>
        <p:spPr>
          <a:xfrm>
            <a:off x="5892000" y="6119872"/>
            <a:ext cx="6000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A0D2A0"/>
                </a:solidFill>
                <a:latin typeface="Arial"/>
                <a:ea typeface="Arial"/>
                <a:cs typeface="Arial"/>
                <a:sym typeface="Arial"/>
              </a:rPr>
              <a:t>{{ACCOUNT_HEALTH_BADGE}}</a:t>
            </a:r>
            <a:endParaRPr/>
          </a:p>
        </p:txBody>
      </p:sp>
      <p:sp>
        <p:nvSpPr>
          <p:cNvPr id="28" name="Google Shape;28;p4"/>
          <p:cNvSpPr txBox="1"/>
          <p:nvPr/>
        </p:nvSpPr>
        <p:spPr>
          <a:xfrm>
            <a:off x="5892000" y="6420192"/>
            <a:ext cx="6000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B9D2"/>
                </a:solidFill>
                <a:latin typeface="Arial"/>
                <a:ea typeface="Arial"/>
                <a:cs typeface="Arial"/>
                <a:sym typeface="Arial"/>
              </a:rPr>
              <a:t>{{BUDGET_SUMMARY}}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5"/>
          <p:cNvGrpSpPr/>
          <p:nvPr/>
        </p:nvGrpSpPr>
        <p:grpSpPr>
          <a:xfrm>
            <a:off x="484132" y="1302383"/>
            <a:ext cx="2907213" cy="1030194"/>
            <a:chOff x="252641" y="1209792"/>
            <a:chExt cx="2354400" cy="834300"/>
          </a:xfrm>
        </p:grpSpPr>
        <p:sp>
          <p:nvSpPr>
            <p:cNvPr id="34" name="Google Shape;34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" name="Google Shape;35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36" name="Google Shape;36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37" name="Google Shape;37;p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38" name="Google Shape;38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39" name="Google Shape;39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AD SPEND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{{METRIC_SPEND}}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1" name="Google Shape;41;p5"/>
          <p:cNvGrpSpPr/>
          <p:nvPr/>
        </p:nvGrpSpPr>
        <p:grpSpPr>
          <a:xfrm>
            <a:off x="484132" y="2583379"/>
            <a:ext cx="2907213" cy="1030194"/>
            <a:chOff x="252641" y="1209792"/>
            <a:chExt cx="2354400" cy="834300"/>
          </a:xfrm>
        </p:grpSpPr>
        <p:sp>
          <p:nvSpPr>
            <p:cNvPr id="42" name="Google Shape;42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" name="Google Shape;43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44" name="Google Shape;44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45" name="Google Shape;45;p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46" name="Google Shape;46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47" name="Google Shape;47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REACH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{{METRIC_REACH}}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9" name="Google Shape;49;p5"/>
          <p:cNvGrpSpPr/>
          <p:nvPr/>
        </p:nvGrpSpPr>
        <p:grpSpPr>
          <a:xfrm>
            <a:off x="484132" y="3864375"/>
            <a:ext cx="2907213" cy="1030194"/>
            <a:chOff x="252641" y="1209792"/>
            <a:chExt cx="2354400" cy="834300"/>
          </a:xfrm>
        </p:grpSpPr>
        <p:sp>
          <p:nvSpPr>
            <p:cNvPr id="50" name="Google Shape;50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1" name="Google Shape;51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52" name="Google Shape;52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53" name="Google Shape;53;p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54" name="Google Shape;54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55" name="Google Shape;55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IMPRESSIONS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{{METRIC_IMPRESSIONS}}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7" name="Google Shape;57;p5"/>
          <p:cNvGrpSpPr/>
          <p:nvPr/>
        </p:nvGrpSpPr>
        <p:grpSpPr>
          <a:xfrm>
            <a:off x="484132" y="5145370"/>
            <a:ext cx="2907213" cy="1030194"/>
            <a:chOff x="252641" y="1209792"/>
            <a:chExt cx="2354400" cy="834300"/>
          </a:xfrm>
        </p:grpSpPr>
        <p:sp>
          <p:nvSpPr>
            <p:cNvPr id="58" name="Google Shape;58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9" name="Google Shape;59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60" name="Google Shape;60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61" name="Google Shape;61;p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62" name="Google Shape;62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63" name="Google Shape;63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{{RESULT_LABEL}}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{{METRIC_RESULTS}}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5" name="Google Shape;65;p5"/>
          <p:cNvSpPr/>
          <p:nvPr/>
        </p:nvSpPr>
        <p:spPr>
          <a:xfrm>
            <a:off x="3593639" y="1302389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" name="Google Shape;66;p5"/>
          <p:cNvGrpSpPr/>
          <p:nvPr/>
        </p:nvGrpSpPr>
        <p:grpSpPr>
          <a:xfrm>
            <a:off x="3714017" y="1459517"/>
            <a:ext cx="717528" cy="717528"/>
            <a:chOff x="3105456" y="1218956"/>
            <a:chExt cx="1118516" cy="1118516"/>
          </a:xfrm>
        </p:grpSpPr>
        <p:sp>
          <p:nvSpPr>
            <p:cNvPr id="67" name="Google Shape;67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8" name="Google Shape;68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393457" y="1506957"/>
              <a:ext cx="540000" cy="540000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69" name="Google Shape;69;p5"/>
          <p:cNvGrpSpPr/>
          <p:nvPr/>
        </p:nvGrpSpPr>
        <p:grpSpPr>
          <a:xfrm>
            <a:off x="4655379" y="1486708"/>
            <a:ext cx="1834048" cy="683137"/>
            <a:chOff x="1112490" y="1363887"/>
            <a:chExt cx="1485300" cy="553237"/>
          </a:xfrm>
        </p:grpSpPr>
        <p:sp>
          <p:nvSpPr>
            <p:cNvPr id="70" name="Google Shape;70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CTR (All)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{{METRIC_CTR}}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" name="Google Shape;72;p5"/>
          <p:cNvSpPr/>
          <p:nvPr/>
        </p:nvSpPr>
        <p:spPr>
          <a:xfrm>
            <a:off x="3593639" y="2583385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" name="Google Shape;73;p5"/>
          <p:cNvGrpSpPr/>
          <p:nvPr/>
        </p:nvGrpSpPr>
        <p:grpSpPr>
          <a:xfrm>
            <a:off x="3714017" y="2740513"/>
            <a:ext cx="717528" cy="717528"/>
            <a:chOff x="3105456" y="1218956"/>
            <a:chExt cx="1118516" cy="1118516"/>
          </a:xfrm>
        </p:grpSpPr>
        <p:sp>
          <p:nvSpPr>
            <p:cNvPr id="74" name="Google Shape;74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5" name="Google Shape;75;p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393457" y="1506957"/>
              <a:ext cx="540000" cy="540000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76" name="Google Shape;76;p5"/>
          <p:cNvGrpSpPr/>
          <p:nvPr/>
        </p:nvGrpSpPr>
        <p:grpSpPr>
          <a:xfrm>
            <a:off x="4655379" y="2767704"/>
            <a:ext cx="1834048" cy="683137"/>
            <a:chOff x="1112490" y="1363887"/>
            <a:chExt cx="1485300" cy="553237"/>
          </a:xfrm>
        </p:grpSpPr>
        <p:sp>
          <p:nvSpPr>
            <p:cNvPr id="77" name="Google Shape;77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{{COST_LABEL}}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{{METRIC_CPR}}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5"/>
          <p:cNvSpPr/>
          <p:nvPr/>
        </p:nvSpPr>
        <p:spPr>
          <a:xfrm>
            <a:off x="3593639" y="3864381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" name="Google Shape;80;p5"/>
          <p:cNvGrpSpPr/>
          <p:nvPr/>
        </p:nvGrpSpPr>
        <p:grpSpPr>
          <a:xfrm>
            <a:off x="3714017" y="4021509"/>
            <a:ext cx="717528" cy="717528"/>
            <a:chOff x="3105456" y="1218956"/>
            <a:chExt cx="1118516" cy="1118516"/>
          </a:xfrm>
        </p:grpSpPr>
        <p:sp>
          <p:nvSpPr>
            <p:cNvPr id="81" name="Google Shape;81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2" name="Google Shape;82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93457" y="1506957"/>
              <a:ext cx="540001" cy="540001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83" name="Google Shape;83;p5"/>
          <p:cNvGrpSpPr/>
          <p:nvPr/>
        </p:nvGrpSpPr>
        <p:grpSpPr>
          <a:xfrm>
            <a:off x="4655379" y="4048700"/>
            <a:ext cx="1834048" cy="683137"/>
            <a:chOff x="1112490" y="1363887"/>
            <a:chExt cx="1485300" cy="553237"/>
          </a:xfrm>
        </p:grpSpPr>
        <p:sp>
          <p:nvSpPr>
            <p:cNvPr id="84" name="Google Shape;84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CPC (All)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{{METRIC_CPC}}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79;p5"/>
          <p:cNvSpPr/>
          <p:nvPr/>
        </p:nvSpPr>
        <p:spPr>
          <a:xfrm>
            <a:off x="3593639" y="5145377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" name="Google Shape;80;p5"/>
          <p:cNvGrpSpPr/>
          <p:nvPr/>
        </p:nvGrpSpPr>
        <p:grpSpPr>
          <a:xfrm>
            <a:off x="3714017" y="5302505"/>
            <a:ext cx="717528" cy="717528"/>
            <a:chOff x="3105456" y="1218956"/>
            <a:chExt cx="1118516" cy="1118516"/>
          </a:xfrm>
        </p:grpSpPr>
        <p:sp>
          <p:nvSpPr>
            <p:cNvPr id="105" name="Google Shape;81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6" name="Google Shape;82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93457" y="1506957"/>
              <a:ext cx="540001" cy="540001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107" name="Google Shape;83;p5"/>
          <p:cNvGrpSpPr/>
          <p:nvPr/>
        </p:nvGrpSpPr>
        <p:grpSpPr>
          <a:xfrm>
            <a:off x="4655379" y="5329696"/>
            <a:ext cx="1834048" cy="683137"/>
            <a:chOff x="1112490" y="1363887"/>
            <a:chExt cx="1485300" cy="553237"/>
          </a:xfrm>
        </p:grpSpPr>
        <p:sp>
          <p:nvSpPr>
            <p:cNvPr id="108" name="Google Shape;84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{{METRIC_8_LABEL}}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85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{{METRIC_8_VALUE}}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" name="Google Shape;86;p5"/>
          <p:cNvGrpSpPr/>
          <p:nvPr/>
        </p:nvGrpSpPr>
        <p:grpSpPr>
          <a:xfrm>
            <a:off x="6501236" y="2578608"/>
            <a:ext cx="5691128" cy="2624328"/>
            <a:chOff x="6312826" y="1118867"/>
            <a:chExt cx="5861100" cy="2944550"/>
          </a:xfrm>
        </p:grpSpPr>
        <p:grpSp>
          <p:nvGrpSpPr>
            <p:cNvPr id="87" name="Google Shape;87;p5"/>
            <p:cNvGrpSpPr/>
            <p:nvPr/>
          </p:nvGrpSpPr>
          <p:grpSpPr>
            <a:xfrm>
              <a:off x="6520668" y="1118867"/>
              <a:ext cx="5652900" cy="786275"/>
              <a:chOff x="6520668" y="1118867"/>
              <a:chExt cx="5652900" cy="786275"/>
            </a:xfrm>
          </p:grpSpPr>
          <p:grpSp>
            <p:nvGrpSpPr>
              <p:cNvPr id="88" name="Google Shape;88;p5"/>
              <p:cNvGrpSpPr/>
              <p:nvPr/>
            </p:nvGrpSpPr>
            <p:grpSpPr>
              <a:xfrm>
                <a:off x="6968569" y="1118867"/>
                <a:ext cx="3833267" cy="338700"/>
                <a:chOff x="521471" y="4672294"/>
                <a:chExt cx="3833267" cy="338700"/>
              </a:xfrm>
            </p:grpSpPr>
            <p:cxnSp>
              <p:nvCxnSpPr>
                <p:cNvPr id="89" name="Google Shape;89;p5"/>
                <p:cNvCxnSpPr/>
                <p:nvPr/>
              </p:nvCxnSpPr>
              <p:spPr>
                <a:xfrm>
                  <a:off x="521471" y="4829034"/>
                  <a:ext cx="291900" cy="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3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90" name="Google Shape;90;p5"/>
                <p:cNvSpPr txBox="1"/>
                <p:nvPr/>
              </p:nvSpPr>
              <p:spPr>
                <a:xfrm>
                  <a:off x="879238" y="4672294"/>
                  <a:ext cx="34755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CAMPAIGN SUMMARY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1" name="Google Shape;91;p5"/>
              <p:cNvSpPr txBox="1"/>
              <p:nvPr/>
            </p:nvSpPr>
            <p:spPr>
              <a:xfrm>
                <a:off x="6520668" y="1512767"/>
                <a:ext cx="5652900" cy="392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{{CAMPAIGN_SUMMARY}}</a:t>
                </a:r>
                <a:endParaRPr b="0" i="0" sz="1300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92" name="Google Shape;92;p5"/>
            <p:cNvGrpSpPr/>
            <p:nvPr/>
          </p:nvGrpSpPr>
          <p:grpSpPr>
            <a:xfrm>
              <a:off x="6312826" y="3244368"/>
              <a:ext cx="5861100" cy="819049"/>
              <a:chOff x="6312826" y="1374667"/>
              <a:chExt cx="5861100" cy="819049"/>
            </a:xfrm>
          </p:grpSpPr>
          <p:grpSp>
            <p:nvGrpSpPr>
              <p:cNvPr id="93" name="Google Shape;93;p5"/>
              <p:cNvGrpSpPr/>
              <p:nvPr/>
            </p:nvGrpSpPr>
            <p:grpSpPr>
              <a:xfrm>
                <a:off x="6968569" y="1374667"/>
                <a:ext cx="3833267" cy="338700"/>
                <a:chOff x="521471" y="4928094"/>
                <a:chExt cx="3833267" cy="338700"/>
              </a:xfrm>
            </p:grpSpPr>
            <p:cxnSp>
              <p:nvCxnSpPr>
                <p:cNvPr id="94" name="Google Shape;94;p5"/>
                <p:cNvCxnSpPr/>
                <p:nvPr/>
              </p:nvCxnSpPr>
              <p:spPr>
                <a:xfrm>
                  <a:off x="521471" y="5097434"/>
                  <a:ext cx="291900" cy="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95" name="Google Shape;95;p5"/>
                <p:cNvSpPr txBox="1"/>
                <p:nvPr/>
              </p:nvSpPr>
              <p:spPr>
                <a:xfrm>
                  <a:off x="879238" y="4928094"/>
                  <a:ext cx="34755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KEY INSIGHTS &amp; UPDATES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" name="Google Shape;96;p5"/>
              <p:cNvSpPr txBox="1"/>
              <p:nvPr/>
            </p:nvSpPr>
            <p:spPr>
              <a:xfrm>
                <a:off x="6312826" y="1901216"/>
                <a:ext cx="58611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rgbClr val="FFFFFF"/>
                  </a:solidFill>
                  <a:highlight>
                    <a:srgbClr val="2A2758"/>
                  </a:highlight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97" name="Google Shape;97;p5"/>
          <p:cNvGrpSpPr/>
          <p:nvPr/>
        </p:nvGrpSpPr>
        <p:grpSpPr>
          <a:xfrm>
            <a:off x="6968569" y="1302392"/>
            <a:ext cx="3833267" cy="338700"/>
            <a:chOff x="521471" y="4824694"/>
            <a:chExt cx="3833267" cy="338700"/>
          </a:xfrm>
        </p:grpSpPr>
        <p:cxnSp>
          <p:nvCxnSpPr>
            <p:cNvPr id="98" name="Google Shape;98;p5"/>
            <p:cNvCxnSpPr/>
            <p:nvPr/>
          </p:nvCxnSpPr>
          <p:spPr>
            <a:xfrm>
              <a:off x="521471" y="4981434"/>
              <a:ext cx="291900" cy="0"/>
            </a:xfrm>
            <a:prstGeom prst="straightConnector1">
              <a:avLst/>
            </a:prstGeom>
            <a:noFill/>
            <a:ln cap="rnd" cmpd="sng" w="38100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99" name="Google Shape;99;p5"/>
            <p:cNvSpPr txBox="1"/>
            <p:nvPr/>
          </p:nvSpPr>
          <p:spPr>
            <a:xfrm>
              <a:off x="879238" y="4824694"/>
              <a:ext cx="3475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DATE RANGE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5"/>
          <p:cNvSpPr txBox="1"/>
          <p:nvPr/>
        </p:nvSpPr>
        <p:spPr>
          <a:xfrm>
            <a:off x="7336645" y="1693916"/>
            <a:ext cx="39198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300" u="none" cap="none" strike="noStrik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{{DATE_RANGE}}</a:t>
            </a:r>
            <a:endParaRPr b="0" i="0" sz="13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379359" y="324692"/>
            <a:ext cx="114333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non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YOUR WEEKLY PERFORMANCE REPORT</a:t>
            </a:r>
            <a:endParaRPr b="0" i="0" sz="2800" u="none" cap="none" strike="noStrik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{{CAMPAIGN_NAME}}</a:t>
            </a:r>
            <a:endParaRPr b="0" i="0" sz="2800" u="none" cap="none" strike="noStrik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6551700" y="4894275"/>
            <a:ext cx="5590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300"/>
              <a:buFont typeface="Arial"/>
              <a:buChar char="●"/>
            </a:pPr>
            <a:r>
              <a:rPr b="1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{{KEY_INSIGHTS}}</a:t>
            </a:r>
            <a:endParaRPr b="1" i="0" sz="13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/>
          <p:nvPr/>
        </p:nvSpPr>
        <p:spPr>
          <a:xfrm>
            <a:off x="480031" y="1502330"/>
            <a:ext cx="11205600" cy="648000"/>
          </a:xfrm>
          <a:prstGeom prst="rect">
            <a:avLst/>
          </a:prstGeom>
          <a:gradFill>
            <a:gsLst>
              <a:gs pos="0">
                <a:schemeClr val="accent2"/>
              </a:gs>
              <a:gs pos="5000">
                <a:schemeClr val="accent2"/>
              </a:gs>
              <a:gs pos="41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aphicFrame>
        <p:nvGraphicFramePr>
          <p:cNvPr id="108" name="Google Shape;108;p6"/>
          <p:cNvGraphicFramePr/>
          <p:nvPr/>
        </p:nvGraphicFramePr>
        <p:xfrm>
          <a:off x="480029" y="14883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{94ED68FC-94E8-4026-9952-6AE550FBBC15}</a:tableStyleId>
              </a:tblPr>
              <a:tblGrid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</a:tblGrid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Month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Ad Spend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Reach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Impressions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CTR (All)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CPC (All)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{{PERIOD_RESULT1_LABEL}}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{{PERIOD_CPR1_LABEL}}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{{PERIOD_RESULT2_LABEL}}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{{PERIOD_CPR2_LABEL}}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{{PERIOD_MONTH}}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{{PERIOD_SPEND}}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{{PERIOD_REACH}}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{{PERIOD_IMPRESSIONS}}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{{PERIOD_CTR}}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{{PERIOD_CPC}}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{{PERIOD_RESULT1}}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{{PERIOD_CPR1}}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{{PERIOD_RESULT2}}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{{PERIOD_CPR2}}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{{MTD_MONTH}}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{{MTD_SPEND}}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{{MTD_REACH}}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{{MTD_IMPRESSIONS}}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{{MTD_CTR}}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{{MTD_CPC}}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{{MTD_RESULT1}}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{{MTD_CPR1}}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{{MTD_RESULT2}}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{{MTD_CPR2}}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109" name="Google Shape;109;p6"/>
          <p:cNvSpPr txBox="1"/>
          <p:nvPr/>
        </p:nvSpPr>
        <p:spPr>
          <a:xfrm>
            <a:off x="379384" y="426192"/>
            <a:ext cx="1143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MONTHLY CAMPAIGN PERFORMANCE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379384" y="426192"/>
            <a:ext cx="1143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METRIC ABBREVIATION GUIDE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" name="Google Shape;115;p7"/>
          <p:cNvGrpSpPr/>
          <p:nvPr/>
        </p:nvGrpSpPr>
        <p:grpSpPr>
          <a:xfrm>
            <a:off x="460447" y="1257589"/>
            <a:ext cx="11274353" cy="5103767"/>
            <a:chOff x="460447" y="1257589"/>
            <a:chExt cx="11274353" cy="5103767"/>
          </a:xfrm>
        </p:grpSpPr>
        <p:grpSp>
          <p:nvGrpSpPr>
            <p:cNvPr id="116" name="Google Shape;116;p7"/>
            <p:cNvGrpSpPr/>
            <p:nvPr/>
          </p:nvGrpSpPr>
          <p:grpSpPr>
            <a:xfrm>
              <a:off x="460447" y="1257589"/>
              <a:ext cx="11261996" cy="1132156"/>
              <a:chOff x="460447" y="1257589"/>
              <a:chExt cx="11261996" cy="1132156"/>
            </a:xfrm>
          </p:grpSpPr>
          <p:grpSp>
            <p:nvGrpSpPr>
              <p:cNvPr id="117" name="Google Shape;117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18" name="Google Shape;118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19" name="Google Shape;119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20" name="Google Shape;120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21" name="Google Shape;121;p7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22" name="Google Shape;122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REACH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" name="Google Shape;123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total number of unique users who saw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4" name="Google Shape;124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25" name="Google Shape;125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26" name="Google Shape;126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27" name="Google Shape;127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28" name="Google Shape;128;p7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29" name="Google Shape;129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LINK CLICKS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0" name="Google Shape;130;p7"/>
                <p:cNvSpPr txBox="1"/>
                <p:nvPr/>
              </p:nvSpPr>
              <p:spPr>
                <a:xfrm>
                  <a:off x="1518248" y="1777988"/>
                  <a:ext cx="2500299" cy="5840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actual number of clicks on links within the ad, leading to your chosen destination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1" name="Google Shape;131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32" name="Google Shape;132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33" name="Google Shape;133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34" name="Google Shape;134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35" name="Google Shape;135;p7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36" name="Google Shape;136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CPL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LEAD)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" name="Google Shape;137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lead generated by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38" name="Google Shape;138;p7"/>
            <p:cNvGrpSpPr/>
            <p:nvPr/>
          </p:nvGrpSpPr>
          <p:grpSpPr>
            <a:xfrm>
              <a:off x="460447" y="2581459"/>
              <a:ext cx="11261996" cy="1132156"/>
              <a:chOff x="460447" y="1257589"/>
              <a:chExt cx="11261996" cy="1132156"/>
            </a:xfrm>
          </p:grpSpPr>
          <p:grpSp>
            <p:nvGrpSpPr>
              <p:cNvPr id="139" name="Google Shape;139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40" name="Google Shape;140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1" name="Google Shape;141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42" name="Google Shape;142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43" name="Google Shape;143;p7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44" name="Google Shape;144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IMPRESSIONS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5" name="Google Shape;145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total number of times your ad was displayed on users' screens.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6" name="Google Shape;146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47" name="Google Shape;147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8" name="Google Shape;148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49" name="Google Shape;149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50" name="Google Shape;150;p7"/>
                  <p:cNvPicPr preferRelativeResize="0"/>
                  <p:nvPr/>
                </p:nvPicPr>
                <p:blipFill rotWithShape="1">
                  <a:blip r:embed="rId7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51" name="Google Shape;151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LEADS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2" name="Google Shape;152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number of users who have shown interest in your product 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3" name="Google Shape;153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54" name="Google Shape;154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55" name="Google Shape;155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56" name="Google Shape;156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57" name="Google Shape;157;p7"/>
                  <p:cNvPicPr preferRelativeResize="0"/>
                  <p:nvPr/>
                </p:nvPicPr>
                <p:blipFill rotWithShape="1">
                  <a:blip r:embed="rId8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58" name="Google Shape;158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CPR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RESULT)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9" name="Google Shape;159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outcome (e.g., conversion, lead, etc.)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60" name="Google Shape;160;p7"/>
            <p:cNvGrpSpPr/>
            <p:nvPr/>
          </p:nvGrpSpPr>
          <p:grpSpPr>
            <a:xfrm>
              <a:off x="460447" y="3905329"/>
              <a:ext cx="11274353" cy="1132156"/>
              <a:chOff x="460447" y="1257589"/>
              <a:chExt cx="11274353" cy="1132156"/>
            </a:xfrm>
          </p:grpSpPr>
          <p:grpSp>
            <p:nvGrpSpPr>
              <p:cNvPr id="161" name="Google Shape;161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62" name="Google Shape;162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63" name="Google Shape;163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64" name="Google Shape;164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65" name="Google Shape;165;p7"/>
                  <p:cNvPicPr preferRelativeResize="0"/>
                  <p:nvPr/>
                </p:nvPicPr>
                <p:blipFill rotWithShape="1">
                  <a:blip r:embed="rId9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66" name="Google Shape;166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AD FREQUENCY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" name="Google Shape;167;p7"/>
                <p:cNvSpPr txBox="1"/>
                <p:nvPr/>
              </p:nvSpPr>
              <p:spPr>
                <a:xfrm>
                  <a:off x="1518248" y="1777988"/>
                  <a:ext cx="2500200" cy="39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number of times each person in your reach saw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68" name="Google Shape;168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69" name="Google Shape;169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0" name="Google Shape;170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71" name="Google Shape;171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72" name="Google Shape;172;p7"/>
                  <p:cNvPicPr preferRelativeResize="0"/>
                  <p:nvPr/>
                </p:nvPicPr>
                <p:blipFill rotWithShape="1">
                  <a:blip r:embed="rId10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73" name="Google Shape;173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CPC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CLICK)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" name="Google Shape;174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click on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75" name="Google Shape;175;p7"/>
              <p:cNvGrpSpPr/>
              <p:nvPr/>
            </p:nvGrpSpPr>
            <p:grpSpPr>
              <a:xfrm>
                <a:off x="8116216" y="1257589"/>
                <a:ext cx="3618584" cy="1132156"/>
                <a:chOff x="460447" y="1317747"/>
                <a:chExt cx="3618584" cy="1132156"/>
              </a:xfrm>
            </p:grpSpPr>
            <p:sp>
              <p:nvSpPr>
                <p:cNvPr id="176" name="Google Shape;176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7" name="Google Shape;177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78" name="Google Shape;178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79" name="Google Shape;179;p7"/>
                  <p:cNvPicPr preferRelativeResize="0"/>
                  <p:nvPr/>
                </p:nvPicPr>
                <p:blipFill rotWithShape="1">
                  <a:blip r:embed="rId11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80" name="Google Shape;180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LEARNING PHASE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1" name="Google Shape;181;p7"/>
                <p:cNvSpPr txBox="1"/>
                <p:nvPr/>
              </p:nvSpPr>
              <p:spPr>
                <a:xfrm>
                  <a:off x="1518248" y="1777988"/>
                  <a:ext cx="2560783" cy="5840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period during which Facebook's algorithm is learning the best ways to  achieve your campaign objective.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82" name="Google Shape;182;p7"/>
            <p:cNvGrpSpPr/>
            <p:nvPr/>
          </p:nvGrpSpPr>
          <p:grpSpPr>
            <a:xfrm>
              <a:off x="460447" y="5229200"/>
              <a:ext cx="11261996" cy="1132156"/>
              <a:chOff x="460447" y="1257589"/>
              <a:chExt cx="11261996" cy="1132156"/>
            </a:xfrm>
          </p:grpSpPr>
          <p:grpSp>
            <p:nvGrpSpPr>
              <p:cNvPr id="183" name="Google Shape;183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84" name="Google Shape;184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85" name="Google Shape;185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86" name="Google Shape;186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87" name="Google Shape;187;p7"/>
                  <p:cNvPicPr preferRelativeResize="0"/>
                  <p:nvPr/>
                </p:nvPicPr>
                <p:blipFill rotWithShape="1">
                  <a:blip r:embed="rId12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88" name="Google Shape;188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CTR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(CLICK-THROUGH RATE)</a:t>
                  </a:r>
                  <a:endParaRPr b="0" i="0" sz="140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endParaRPr>
                </a:p>
              </p:txBody>
            </p:sp>
            <p:sp>
              <p:nvSpPr>
                <p:cNvPr id="189" name="Google Shape;189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percentage of people who saw your ad and performed a click on it.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0" name="Google Shape;190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91" name="Google Shape;191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2" name="Google Shape;192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93" name="Google Shape;193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94" name="Google Shape;194;p7"/>
                  <p:cNvPicPr preferRelativeResize="0"/>
                  <p:nvPr/>
                </p:nvPicPr>
                <p:blipFill rotWithShape="1">
                  <a:blip r:embed="rId13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95" name="Google Shape;195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CPM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MILLE)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6" name="Google Shape;196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cost you paid for a thousand impressions of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7" name="Google Shape;197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98" name="Google Shape;198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9" name="Google Shape;199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200" name="Google Shape;200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201" name="Google Shape;201;p7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202" name="Google Shape;202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CONVERSIONS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3" name="Google Shape;203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number of users who have completed a desired action.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XoomGrahpic 2">
      <a:dk1>
        <a:srgbClr val="000000"/>
      </a:dk1>
      <a:lt1>
        <a:srgbClr val="FFFFFF"/>
      </a:lt1>
      <a:dk2>
        <a:srgbClr val="2D3847"/>
      </a:dk2>
      <a:lt2>
        <a:srgbClr val="E7E6E6"/>
      </a:lt2>
      <a:accent1>
        <a:srgbClr val="FF3200"/>
      </a:accent1>
      <a:accent2>
        <a:srgbClr val="FFB300"/>
      </a:accent2>
      <a:accent3>
        <a:srgbClr val="DA32D0"/>
      </a:accent3>
      <a:accent4>
        <a:srgbClr val="016ED9"/>
      </a:accent4>
      <a:accent5>
        <a:srgbClr val="1E1B4B"/>
      </a:accent5>
      <a:accent6>
        <a:srgbClr val="12102F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