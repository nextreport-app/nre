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4"/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6858000" cx="12192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Poppins Medium"/>
      <p:regular r:id="rId18"/>
      <p:bold r:id="rId19"/>
      <p:italic r:id="rId20"/>
      <p:boldItalic r:id="rId21"/>
    </p:embeddedFont>
    <p:embeddedFont>
      <p:font typeface="Poppins SemiBold"/>
      <p:regular r:id="rId22"/>
      <p:bold r:id="rId23"/>
      <p:italic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30A443-7182-4D04-9DF8-60CD379C16A3}">
  <a:tblStyle styleId="{E530A443-7182-4D04-9DF8-60CD379C16A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Medium-italic.fntdata"/><Relationship Id="rId22" Type="http://schemas.openxmlformats.org/officeDocument/2006/relationships/font" Target="fonts/PoppinsSemiBold-regular.fntdata"/><Relationship Id="rId21" Type="http://schemas.openxmlformats.org/officeDocument/2006/relationships/font" Target="fonts/PoppinsMedium-boldItalic.fntdata"/><Relationship Id="rId24" Type="http://schemas.openxmlformats.org/officeDocument/2006/relationships/font" Target="fonts/PoppinsSemiBold-italic.fntdata"/><Relationship Id="rId23" Type="http://schemas.openxmlformats.org/officeDocument/2006/relationships/font" Target="fonts/PoppinsSemiBold-bold.fntdata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PoppinsSemiBold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19" Type="http://schemas.openxmlformats.org/officeDocument/2006/relationships/font" Target="fonts/PoppinsMedium-bold.fntdata"/><Relationship Id="rId18" Type="http://schemas.openxmlformats.org/officeDocument/2006/relationships/font" Target="fonts/Poppi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6015135" y="472750"/>
            <a:ext cx="5834743" cy="5834743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769" r="769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6"/>
          <p:cNvSpPr/>
          <p:nvPr/>
        </p:nvSpPr>
        <p:spPr>
          <a:xfrm>
            <a:off x="6015135" y="472750"/>
            <a:ext cx="5834700" cy="5834700"/>
          </a:xfrm>
          <a:prstGeom prst="ellipse">
            <a:avLst/>
          </a:prstGeom>
          <a:gradFill>
            <a:gsLst>
              <a:gs pos="0">
                <a:srgbClr val="1B2C67"/>
              </a:gs>
              <a:gs pos="5000">
                <a:srgbClr val="1B2C67"/>
              </a:gs>
              <a:gs pos="100000">
                <a:srgbClr val="016ED9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" name="Google Shape;24;p6"/>
          <p:cNvPicPr preferRelativeResize="0"/>
          <p:nvPr/>
        </p:nvPicPr>
        <p:blipFill rotWithShape="1">
          <a:blip r:embed="rId2">
            <a:alphaModFix/>
          </a:blip>
          <a:srcRect b="0" l="768" r="768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/>
          <p:nvPr/>
        </p:nvSpPr>
        <p:spPr>
          <a:xfrm>
            <a:off x="11352213" y="6416675"/>
            <a:ext cx="431800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 rotWithShape="1">
          <a:blip r:embed="rId1">
            <a:alphaModFix/>
          </a:blip>
          <a:srcRect b="1254" l="768" r="2003" t="0"/>
          <a:stretch/>
        </p:blipFill>
        <p:spPr>
          <a:xfrm>
            <a:off x="-1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/>
          <p:nvPr/>
        </p:nvSpPr>
        <p:spPr>
          <a:xfrm>
            <a:off x="11352213" y="6416675"/>
            <a:ext cx="43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-US" sz="1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0" r:id="rId2"/>
    <p:sldLayoutId id="2147483651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image" Target="../media/image11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3.pn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3.png"/><Relationship Id="rId10" Type="http://schemas.openxmlformats.org/officeDocument/2006/relationships/image" Target="../media/image15.png"/><Relationship Id="rId13" Type="http://schemas.openxmlformats.org/officeDocument/2006/relationships/image" Target="../media/image12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18.png"/><Relationship Id="rId9" Type="http://schemas.openxmlformats.org/officeDocument/2006/relationships/image" Target="../media/image9.png"/><Relationship Id="rId14" Type="http://schemas.openxmlformats.org/officeDocument/2006/relationships/image" Target="../media/image10.png"/><Relationship Id="rId5" Type="http://schemas.openxmlformats.org/officeDocument/2006/relationships/image" Target="../media/image17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7"/>
          <p:cNvPicPr preferRelativeResize="0"/>
          <p:nvPr/>
        </p:nvPicPr>
        <p:blipFill rotWithShape="1">
          <a:blip r:embed="rId3">
            <a:alphaModFix/>
          </a:blip>
          <a:srcRect b="383" l="0" r="0" t="383"/>
          <a:stretch/>
        </p:blipFill>
        <p:spPr>
          <a:xfrm>
            <a:off x="5556826" y="208686"/>
            <a:ext cx="6749049" cy="6697428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/>
          <p:nvPr/>
        </p:nvSpPr>
        <p:spPr>
          <a:xfrm>
            <a:off x="506625" y="741625"/>
            <a:ext cx="6082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Meta 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i="0" lang="en-US" sz="6000" u="none" cap="none" strike="noStrik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 txBox="1"/>
          <p:nvPr/>
        </p:nvSpPr>
        <p:spPr>
          <a:xfrm>
            <a:off x="506629" y="1572619"/>
            <a:ext cx="5050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2000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WEEKLY PERFORMANCE REPORT</a:t>
            </a:r>
            <a:endParaRPr b="0" i="0" sz="2000" u="none" cap="none" strike="noStrike">
              <a:solidFill>
                <a:schemeClr val="accent4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32" name="Google Shape;32;p7"/>
          <p:cNvSpPr/>
          <p:nvPr/>
        </p:nvSpPr>
        <p:spPr>
          <a:xfrm>
            <a:off x="506630" y="5061635"/>
            <a:ext cx="1745519" cy="331071"/>
          </a:xfrm>
          <a:prstGeom prst="roundRect">
            <a:avLst>
              <a:gd fmla="val 9840" name="adj"/>
            </a:avLst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PRESENTED 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7"/>
          <p:cNvSpPr txBox="1"/>
          <p:nvPr/>
        </p:nvSpPr>
        <p:spPr>
          <a:xfrm>
            <a:off x="506630" y="5533973"/>
            <a:ext cx="53001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Account Name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7"/>
          <p:cNvSpPr txBox="1"/>
          <p:nvPr/>
        </p:nvSpPr>
        <p:spPr>
          <a:xfrm>
            <a:off x="506630" y="5966972"/>
            <a:ext cx="3276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4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08/21/2026</a:t>
            </a:r>
            <a:endParaRPr b="0" i="0" sz="12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5" name="Google Shape;35;p7"/>
          <p:cNvSpPr txBox="1"/>
          <p:nvPr/>
        </p:nvSpPr>
        <p:spPr>
          <a:xfrm>
            <a:off x="5892000" y="6119872"/>
            <a:ext cx="6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0D2A0"/>
                </a:solidFill>
                <a:latin typeface="Arial"/>
                <a:ea typeface="Arial"/>
                <a:cs typeface="Arial"/>
                <a:sym typeface="Arial"/>
              </a:rPr>
              <a:t>🟢 Weekly Performance Score: 82/100 — Excellent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7"/>
          <p:cNvSpPr txBox="1"/>
          <p:nvPr/>
        </p:nvSpPr>
        <p:spPr>
          <a:xfrm>
            <a:off x="5892000" y="6420192"/>
            <a:ext cx="600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0B9D2"/>
                </a:solidFill>
                <a:latin typeface="Arial"/>
                <a:ea typeface="Arial"/>
                <a:cs typeface="Arial"/>
                <a:sym typeface="Arial"/>
              </a:rPr>
              <a:t>Monthly Ad Budget: $1,093 of $4,000 used (27%) — 10 days remaining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oogle Shape;41;p8"/>
          <p:cNvGrpSpPr/>
          <p:nvPr/>
        </p:nvGrpSpPr>
        <p:grpSpPr>
          <a:xfrm>
            <a:off x="484132" y="1302383"/>
            <a:ext cx="2907213" cy="1030194"/>
            <a:chOff x="252641" y="1209792"/>
            <a:chExt cx="2354400" cy="834300"/>
          </a:xfrm>
        </p:grpSpPr>
        <p:sp>
          <p:nvSpPr>
            <p:cNvPr id="42" name="Google Shape;42;p8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" name="Google Shape;43;p8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44" name="Google Shape;44;p8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5" name="Google Shape;45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46" name="Google Shape;46;p8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47" name="Google Shape;47;p8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8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$137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9" name="Google Shape;49;p8"/>
          <p:cNvGrpSpPr/>
          <p:nvPr/>
        </p:nvGrpSpPr>
        <p:grpSpPr>
          <a:xfrm>
            <a:off x="484132" y="2583379"/>
            <a:ext cx="2907213" cy="1030194"/>
            <a:chOff x="252641" y="1209792"/>
            <a:chExt cx="2354400" cy="834300"/>
          </a:xfrm>
        </p:grpSpPr>
        <p:sp>
          <p:nvSpPr>
            <p:cNvPr id="50" name="Google Shape;50;p8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" name="Google Shape;51;p8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52" name="Google Shape;52;p8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3" name="Google Shape;53;p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54" name="Google Shape;54;p8"/>
            <p:cNvGrpSpPr/>
            <p:nvPr/>
          </p:nvGrpSpPr>
          <p:grpSpPr>
            <a:xfrm>
              <a:off x="1112490" y="1359067"/>
              <a:ext cx="1485300" cy="580300"/>
              <a:chOff x="1112490" y="1363887"/>
              <a:chExt cx="1485300" cy="580300"/>
            </a:xfrm>
          </p:grpSpPr>
          <p:sp>
            <p:nvSpPr>
              <p:cNvPr id="55" name="Google Shape;55;p8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8"/>
              <p:cNvSpPr txBox="1"/>
              <p:nvPr/>
            </p:nvSpPr>
            <p:spPr>
              <a:xfrm>
                <a:off x="1112490" y="1620187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4,730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57" name="Google Shape;57;p8"/>
          <p:cNvGrpSpPr/>
          <p:nvPr/>
        </p:nvGrpSpPr>
        <p:grpSpPr>
          <a:xfrm>
            <a:off x="484132" y="3864375"/>
            <a:ext cx="2907213" cy="1030194"/>
            <a:chOff x="252641" y="1209792"/>
            <a:chExt cx="2354400" cy="834300"/>
          </a:xfrm>
        </p:grpSpPr>
        <p:sp>
          <p:nvSpPr>
            <p:cNvPr id="58" name="Google Shape;58;p8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8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0" name="Google Shape;60;p8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1" name="Google Shape;61;p8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62" name="Google Shape;62;p8"/>
            <p:cNvGrpSpPr/>
            <p:nvPr/>
          </p:nvGrpSpPr>
          <p:grpSpPr>
            <a:xfrm>
              <a:off x="1112490" y="1359067"/>
              <a:ext cx="1485300" cy="580300"/>
              <a:chOff x="1112490" y="1363887"/>
              <a:chExt cx="1485300" cy="580300"/>
            </a:xfrm>
          </p:grpSpPr>
          <p:sp>
            <p:nvSpPr>
              <p:cNvPr id="63" name="Google Shape;63;p8"/>
              <p:cNvSpPr txBox="1"/>
              <p:nvPr/>
            </p:nvSpPr>
            <p:spPr>
              <a:xfrm>
                <a:off x="1112490" y="1363887"/>
                <a:ext cx="1485300" cy="20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" name="Google Shape;64;p8"/>
              <p:cNvSpPr txBox="1"/>
              <p:nvPr/>
            </p:nvSpPr>
            <p:spPr>
              <a:xfrm>
                <a:off x="1112490" y="1620187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6,875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65" name="Google Shape;65;p8"/>
          <p:cNvGrpSpPr/>
          <p:nvPr/>
        </p:nvGrpSpPr>
        <p:grpSpPr>
          <a:xfrm>
            <a:off x="484132" y="5145370"/>
            <a:ext cx="2907213" cy="1030194"/>
            <a:chOff x="252641" y="1209792"/>
            <a:chExt cx="2354400" cy="834300"/>
          </a:xfrm>
        </p:grpSpPr>
        <p:sp>
          <p:nvSpPr>
            <p:cNvPr id="66" name="Google Shape;66;p8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7" name="Google Shape;67;p8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68" name="Google Shape;68;p8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9" name="Google Shape;69;p8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70" name="Google Shape;70;p8"/>
            <p:cNvGrpSpPr/>
            <p:nvPr/>
          </p:nvGrpSpPr>
          <p:grpSpPr>
            <a:xfrm>
              <a:off x="1112490" y="1359067"/>
              <a:ext cx="1485300" cy="580300"/>
              <a:chOff x="1112490" y="1363887"/>
              <a:chExt cx="1485300" cy="580300"/>
            </a:xfrm>
          </p:grpSpPr>
          <p:sp>
            <p:nvSpPr>
              <p:cNvPr id="71" name="Google Shape;71;p8"/>
              <p:cNvSpPr txBox="1"/>
              <p:nvPr/>
            </p:nvSpPr>
            <p:spPr>
              <a:xfrm>
                <a:off x="1112490" y="1363887"/>
                <a:ext cx="1485300" cy="34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1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QUOTE REQUEST SUBMITTED</a:t>
                </a:r>
                <a:endParaRPr b="0" i="0" sz="11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8"/>
              <p:cNvSpPr txBox="1"/>
              <p:nvPr/>
            </p:nvSpPr>
            <p:spPr>
              <a:xfrm>
                <a:off x="1112490" y="1620187"/>
                <a:ext cx="1485300" cy="324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3" name="Google Shape;73;p8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" name="Google Shape;74;p8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75" name="Google Shape;75;p8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76" name="Google Shape;76;p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77" name="Google Shape;77;p8"/>
          <p:cNvGrpSpPr/>
          <p:nvPr/>
        </p:nvGrpSpPr>
        <p:grpSpPr>
          <a:xfrm>
            <a:off x="4655379" y="1486708"/>
            <a:ext cx="1834048" cy="732113"/>
            <a:chOff x="1112490" y="1363887"/>
            <a:chExt cx="1485300" cy="592900"/>
          </a:xfrm>
        </p:grpSpPr>
        <p:sp>
          <p:nvSpPr>
            <p:cNvPr id="78" name="Google Shape;78;p8"/>
            <p:cNvSpPr txBox="1"/>
            <p:nvPr/>
          </p:nvSpPr>
          <p:spPr>
            <a:xfrm>
              <a:off x="1112490" y="1363887"/>
              <a:ext cx="1485300" cy="34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COST PER QUOTE REQUEST SUBMITTED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$7.61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0" name="Google Shape;80;p8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" name="Google Shape;81;p8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82" name="Google Shape;82;p8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83" name="Google Shape;83;p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84" name="Google Shape;84;p8"/>
          <p:cNvGrpSpPr/>
          <p:nvPr/>
        </p:nvGrpSpPr>
        <p:grpSpPr>
          <a:xfrm>
            <a:off x="4655379" y="2767704"/>
            <a:ext cx="1834048" cy="716554"/>
            <a:chOff x="1112490" y="1363887"/>
            <a:chExt cx="1485300" cy="580300"/>
          </a:xfrm>
        </p:grpSpPr>
        <p:sp>
          <p:nvSpPr>
            <p:cNvPr id="85" name="Google Shape;85;p8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 txBox="1"/>
            <p:nvPr/>
          </p:nvSpPr>
          <p:spPr>
            <a:xfrm>
              <a:off x="1112490" y="1620187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1.86%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7" name="Google Shape;87;p8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8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89" name="Google Shape;89;p8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0" name="Google Shape;90;p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91" name="Google Shape;91;p8"/>
          <p:cNvGrpSpPr/>
          <p:nvPr/>
        </p:nvGrpSpPr>
        <p:grpSpPr>
          <a:xfrm>
            <a:off x="4655379" y="4048700"/>
            <a:ext cx="1834048" cy="716554"/>
            <a:chOff x="1112490" y="1363887"/>
            <a:chExt cx="1485300" cy="580300"/>
          </a:xfrm>
        </p:grpSpPr>
        <p:sp>
          <p:nvSpPr>
            <p:cNvPr id="92" name="Google Shape;92;p8"/>
            <p:cNvSpPr txBox="1"/>
            <p:nvPr/>
          </p:nvSpPr>
          <p:spPr>
            <a:xfrm>
              <a:off x="1112490" y="1363887"/>
              <a:ext cx="1485300" cy="20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LINK CLICKS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8"/>
            <p:cNvSpPr txBox="1"/>
            <p:nvPr/>
          </p:nvSpPr>
          <p:spPr>
            <a:xfrm>
              <a:off x="1112490" y="1620187"/>
              <a:ext cx="1485300" cy="3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68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" name="Google Shape;94;p8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8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96" name="Google Shape;96;p8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7" name="Google Shape;97;p8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98" name="Google Shape;98;p8"/>
          <p:cNvGrpSpPr/>
          <p:nvPr/>
        </p:nvGrpSpPr>
        <p:grpSpPr>
          <a:xfrm>
            <a:off x="4655379" y="5329696"/>
            <a:ext cx="1834048" cy="732113"/>
            <a:chOff x="1112490" y="1363887"/>
            <a:chExt cx="1485300" cy="592900"/>
          </a:xfrm>
        </p:grpSpPr>
        <p:sp>
          <p:nvSpPr>
            <p:cNvPr id="99" name="Google Shape;99;p8"/>
            <p:cNvSpPr txBox="1"/>
            <p:nvPr/>
          </p:nvSpPr>
          <p:spPr>
            <a:xfrm>
              <a:off x="1112490" y="1363887"/>
              <a:ext cx="1485300" cy="21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1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COST PER LINK CLICK</a:t>
              </a:r>
              <a:endPara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8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$2.20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8"/>
          <p:cNvGrpSpPr/>
          <p:nvPr/>
        </p:nvGrpSpPr>
        <p:grpSpPr>
          <a:xfrm>
            <a:off x="6501236" y="2578608"/>
            <a:ext cx="5691128" cy="2624328"/>
            <a:chOff x="6312826" y="1118867"/>
            <a:chExt cx="5861100" cy="2944550"/>
          </a:xfrm>
        </p:grpSpPr>
        <p:grpSp>
          <p:nvGrpSpPr>
            <p:cNvPr id="102" name="Google Shape;102;p8"/>
            <p:cNvGrpSpPr/>
            <p:nvPr/>
          </p:nvGrpSpPr>
          <p:grpSpPr>
            <a:xfrm>
              <a:off x="6520668" y="1118867"/>
              <a:ext cx="5652900" cy="786275"/>
              <a:chOff x="6520668" y="1118867"/>
              <a:chExt cx="5652900" cy="786275"/>
            </a:xfrm>
          </p:grpSpPr>
          <p:grpSp>
            <p:nvGrpSpPr>
              <p:cNvPr id="103" name="Google Shape;103;p8"/>
              <p:cNvGrpSpPr/>
              <p:nvPr/>
            </p:nvGrpSpPr>
            <p:grpSpPr>
              <a:xfrm>
                <a:off x="6968569" y="1118867"/>
                <a:ext cx="3833267" cy="338700"/>
                <a:chOff x="521471" y="4672294"/>
                <a:chExt cx="3833267" cy="338700"/>
              </a:xfrm>
            </p:grpSpPr>
            <p:cxnSp>
              <p:nvCxnSpPr>
                <p:cNvPr id="104" name="Google Shape;104;p8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105" name="Google Shape;105;p8"/>
                <p:cNvSpPr txBox="1"/>
                <p:nvPr/>
              </p:nvSpPr>
              <p:spPr>
                <a:xfrm>
                  <a:off x="879238" y="46722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" name="Google Shape;106;p8"/>
              <p:cNvSpPr txBox="1"/>
              <p:nvPr/>
            </p:nvSpPr>
            <p:spPr>
              <a:xfrm>
                <a:off x="6520668" y="1512767"/>
                <a:ext cx="5652900" cy="3923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This campaign generated 18 quote requests at A$7.61 cost per request, spending A$137 to reach 4,730 people across 6,875 impressions. The campaign achieved a 1.86% click-through rate at A$2.20 cost per click, demonstrating solid audience interest in your offering this week.</a:t>
                </a:r>
                <a:endParaRPr b="0" i="0" sz="13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07" name="Google Shape;107;p8"/>
            <p:cNvGrpSpPr/>
            <p:nvPr/>
          </p:nvGrpSpPr>
          <p:grpSpPr>
            <a:xfrm>
              <a:off x="6312826" y="3244368"/>
              <a:ext cx="5861100" cy="819049"/>
              <a:chOff x="6312826" y="1374667"/>
              <a:chExt cx="5861100" cy="819049"/>
            </a:xfrm>
          </p:grpSpPr>
          <p:grpSp>
            <p:nvGrpSpPr>
              <p:cNvPr id="108" name="Google Shape;108;p8"/>
              <p:cNvGrpSpPr/>
              <p:nvPr/>
            </p:nvGrpSpPr>
            <p:grpSpPr>
              <a:xfrm>
                <a:off x="6968569" y="1374667"/>
                <a:ext cx="3833267" cy="338700"/>
                <a:chOff x="521471" y="4928094"/>
                <a:chExt cx="3833267" cy="338700"/>
              </a:xfrm>
            </p:grpSpPr>
            <p:cxnSp>
              <p:nvCxnSpPr>
                <p:cNvPr id="109" name="Google Shape;109;p8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110" name="Google Shape;110;p8"/>
                <p:cNvSpPr txBox="1"/>
                <p:nvPr/>
              </p:nvSpPr>
              <p:spPr>
                <a:xfrm>
                  <a:off x="879238" y="4928094"/>
                  <a:ext cx="34755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1" name="Google Shape;111;p8"/>
              <p:cNvSpPr txBox="1"/>
              <p:nvPr/>
            </p:nvSpPr>
            <p:spPr>
              <a:xfrm>
                <a:off x="6312826" y="1901216"/>
                <a:ext cx="5861100" cy="29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12" name="Google Shape;112;p8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113" name="Google Shape;113;p8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14" name="Google Shape;114;p8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5" name="Google Shape;115;p8"/>
          <p:cNvSpPr txBox="1"/>
          <p:nvPr/>
        </p:nvSpPr>
        <p:spPr>
          <a:xfrm>
            <a:off x="7336645" y="1693916"/>
            <a:ext cx="3919800" cy="5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August 14 - August 20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Ad Frequency: 1.4x avg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6" name="Google Shape;116;p8"/>
          <p:cNvSpPr txBox="1"/>
          <p:nvPr/>
        </p:nvSpPr>
        <p:spPr>
          <a:xfrm>
            <a:off x="379359" y="324692"/>
            <a:ext cx="114333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Website_Leads</a:t>
            </a:r>
            <a:r>
              <a:rPr b="0" i="0" lang="en-US" sz="1400" u="none" cap="none" strike="noStrike">
                <a:solidFill>
                  <a:srgbClr val="F6AD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(Campaign)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551700" y="4894275"/>
            <a:ext cx="55902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400"/>
              <a:buFont typeface="Poppins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week our campaign - website leads spent A$137 reaching 4,730 people with a 1.86% CTR. With 18 QUOTE REQUEST SUBMITTED recorded, the campaign shows strong traction at A$7.61 per result. To maximise results, budget will shift toward top-performing ads while underperformers are paused, with fresh creatives and refined targeting planned for the coming week.</a:t>
            </a:r>
            <a:endParaRPr b="1" i="0" sz="14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9"/>
          <p:cNvGrpSpPr/>
          <p:nvPr/>
        </p:nvGrpSpPr>
        <p:grpSpPr>
          <a:xfrm>
            <a:off x="484132" y="1302382"/>
            <a:ext cx="2907213" cy="1030194"/>
            <a:chOff x="252641" y="1209792"/>
            <a:chExt cx="2354400" cy="834300"/>
          </a:xfrm>
        </p:grpSpPr>
        <p:sp>
          <p:nvSpPr>
            <p:cNvPr id="123" name="Google Shape;123;p9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4" name="Google Shape;124;p9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125" name="Google Shape;125;p9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6" name="Google Shape;126;p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127" name="Google Shape;127;p9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128" name="Google Shape;128;p9"/>
              <p:cNvSpPr txBox="1"/>
              <p:nvPr/>
            </p:nvSpPr>
            <p:spPr>
              <a:xfrm>
                <a:off x="1112490" y="1363887"/>
                <a:ext cx="1485300" cy="2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9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$716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0" name="Google Shape;130;p9"/>
          <p:cNvGrpSpPr/>
          <p:nvPr/>
        </p:nvGrpSpPr>
        <p:grpSpPr>
          <a:xfrm>
            <a:off x="484132" y="2583378"/>
            <a:ext cx="2907213" cy="1030194"/>
            <a:chOff x="252641" y="1209792"/>
            <a:chExt cx="2354400" cy="834300"/>
          </a:xfrm>
        </p:grpSpPr>
        <p:sp>
          <p:nvSpPr>
            <p:cNvPr id="131" name="Google Shape;131;p9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32" name="Google Shape;132;p9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133" name="Google Shape;133;p9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34" name="Google Shape;134;p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135" name="Google Shape;135;p9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136" name="Google Shape;136;p9"/>
              <p:cNvSpPr txBox="1"/>
              <p:nvPr/>
            </p:nvSpPr>
            <p:spPr>
              <a:xfrm>
                <a:off x="1112490" y="1363887"/>
                <a:ext cx="1485300" cy="2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9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7,407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38" name="Google Shape;138;p9"/>
          <p:cNvGrpSpPr/>
          <p:nvPr/>
        </p:nvGrpSpPr>
        <p:grpSpPr>
          <a:xfrm>
            <a:off x="484132" y="3864374"/>
            <a:ext cx="2907213" cy="1030194"/>
            <a:chOff x="252641" y="1209792"/>
            <a:chExt cx="2354400" cy="834300"/>
          </a:xfrm>
        </p:grpSpPr>
        <p:sp>
          <p:nvSpPr>
            <p:cNvPr id="139" name="Google Shape;139;p9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0" name="Google Shape;140;p9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141" name="Google Shape;141;p9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42" name="Google Shape;142;p9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143" name="Google Shape;143;p9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144" name="Google Shape;144;p9"/>
              <p:cNvSpPr txBox="1"/>
              <p:nvPr/>
            </p:nvSpPr>
            <p:spPr>
              <a:xfrm>
                <a:off x="1112490" y="1363887"/>
                <a:ext cx="1485300" cy="2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9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9,784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46" name="Google Shape;146;p9"/>
          <p:cNvGrpSpPr/>
          <p:nvPr/>
        </p:nvGrpSpPr>
        <p:grpSpPr>
          <a:xfrm>
            <a:off x="484132" y="5145369"/>
            <a:ext cx="2907213" cy="1030194"/>
            <a:chOff x="252641" y="1209792"/>
            <a:chExt cx="2354400" cy="834300"/>
          </a:xfrm>
        </p:grpSpPr>
        <p:sp>
          <p:nvSpPr>
            <p:cNvPr id="147" name="Google Shape;147;p9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8" name="Google Shape;148;p9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149" name="Google Shape;149;p9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0" name="Google Shape;150;p9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151" name="Google Shape;151;p9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152" name="Google Shape;152;p9"/>
              <p:cNvSpPr txBox="1"/>
              <p:nvPr/>
            </p:nvSpPr>
            <p:spPr>
              <a:xfrm>
                <a:off x="1112490" y="1363887"/>
                <a:ext cx="1485300" cy="2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META FORM LEADS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9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80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4" name="Google Shape;154;p9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" name="Google Shape;155;p9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156" name="Google Shape;156;p9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57" name="Google Shape;157;p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58" name="Google Shape;158;p9"/>
          <p:cNvGrpSpPr/>
          <p:nvPr/>
        </p:nvGrpSpPr>
        <p:grpSpPr>
          <a:xfrm>
            <a:off x="4655379" y="1486708"/>
            <a:ext cx="1834048" cy="732113"/>
            <a:chOff x="1112490" y="1363887"/>
            <a:chExt cx="1485300" cy="592900"/>
          </a:xfrm>
        </p:grpSpPr>
        <p:sp>
          <p:nvSpPr>
            <p:cNvPr id="159" name="Google Shape;159;p9"/>
            <p:cNvSpPr txBox="1"/>
            <p:nvPr/>
          </p:nvSpPr>
          <p:spPr>
            <a:xfrm>
              <a:off x="1112490" y="1363887"/>
              <a:ext cx="1485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COST PER LEAD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9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$8.95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1" name="Google Shape;161;p9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p9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163" name="Google Shape;163;p9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64" name="Google Shape;164;p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65" name="Google Shape;165;p9"/>
          <p:cNvGrpSpPr/>
          <p:nvPr/>
        </p:nvGrpSpPr>
        <p:grpSpPr>
          <a:xfrm>
            <a:off x="4655379" y="2767704"/>
            <a:ext cx="1834048" cy="732113"/>
            <a:chOff x="1112490" y="1363887"/>
            <a:chExt cx="1485300" cy="592900"/>
          </a:xfrm>
        </p:grpSpPr>
        <p:sp>
          <p:nvSpPr>
            <p:cNvPr id="166" name="Google Shape;166;p9"/>
            <p:cNvSpPr txBox="1"/>
            <p:nvPr/>
          </p:nvSpPr>
          <p:spPr>
            <a:xfrm>
              <a:off x="1112490" y="1363887"/>
              <a:ext cx="1485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9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1.71%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9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9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170" name="Google Shape;170;p9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1" name="Google Shape;171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72" name="Google Shape;172;p9"/>
          <p:cNvGrpSpPr/>
          <p:nvPr/>
        </p:nvGrpSpPr>
        <p:grpSpPr>
          <a:xfrm>
            <a:off x="4655379" y="4048700"/>
            <a:ext cx="1834048" cy="732113"/>
            <a:chOff x="1112490" y="1363887"/>
            <a:chExt cx="1485300" cy="592900"/>
          </a:xfrm>
        </p:grpSpPr>
        <p:sp>
          <p:nvSpPr>
            <p:cNvPr id="173" name="Google Shape;173;p9"/>
            <p:cNvSpPr txBox="1"/>
            <p:nvPr/>
          </p:nvSpPr>
          <p:spPr>
            <a:xfrm>
              <a:off x="1112490" y="1363887"/>
              <a:ext cx="1485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LINK CLICKS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9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352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9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" name="Google Shape;176;p9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177" name="Google Shape;177;p9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78" name="Google Shape;178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179" name="Google Shape;179;p9"/>
          <p:cNvGrpSpPr/>
          <p:nvPr/>
        </p:nvGrpSpPr>
        <p:grpSpPr>
          <a:xfrm>
            <a:off x="4655379" y="5329696"/>
            <a:ext cx="1834048" cy="732113"/>
            <a:chOff x="1112490" y="1363887"/>
            <a:chExt cx="1485300" cy="592900"/>
          </a:xfrm>
        </p:grpSpPr>
        <p:sp>
          <p:nvSpPr>
            <p:cNvPr id="180" name="Google Shape;180;p9"/>
            <p:cNvSpPr txBox="1"/>
            <p:nvPr/>
          </p:nvSpPr>
          <p:spPr>
            <a:xfrm>
              <a:off x="1112490" y="1363887"/>
              <a:ext cx="1485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LANDING PAGE VIEWS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105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9"/>
          <p:cNvGrpSpPr/>
          <p:nvPr/>
        </p:nvGrpSpPr>
        <p:grpSpPr>
          <a:xfrm>
            <a:off x="6501236" y="2578553"/>
            <a:ext cx="5691128" cy="2655999"/>
            <a:chOff x="6312826" y="1118867"/>
            <a:chExt cx="5861100" cy="2980250"/>
          </a:xfrm>
        </p:grpSpPr>
        <p:grpSp>
          <p:nvGrpSpPr>
            <p:cNvPr id="183" name="Google Shape;183;p9"/>
            <p:cNvGrpSpPr/>
            <p:nvPr/>
          </p:nvGrpSpPr>
          <p:grpSpPr>
            <a:xfrm>
              <a:off x="6520668" y="1118867"/>
              <a:ext cx="5652900" cy="786300"/>
              <a:chOff x="6520668" y="1118867"/>
              <a:chExt cx="5652900" cy="786300"/>
            </a:xfrm>
          </p:grpSpPr>
          <p:grpSp>
            <p:nvGrpSpPr>
              <p:cNvPr id="184" name="Google Shape;184;p9"/>
              <p:cNvGrpSpPr/>
              <p:nvPr/>
            </p:nvGrpSpPr>
            <p:grpSpPr>
              <a:xfrm>
                <a:off x="6968569" y="1118867"/>
                <a:ext cx="3833267" cy="379800"/>
                <a:chOff x="521471" y="4672294"/>
                <a:chExt cx="3833267" cy="379800"/>
              </a:xfrm>
            </p:grpSpPr>
            <p:cxnSp>
              <p:nvCxnSpPr>
                <p:cNvPr id="185" name="Google Shape;185;p9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186" name="Google Shape;186;p9"/>
                <p:cNvSpPr txBox="1"/>
                <p:nvPr/>
              </p:nvSpPr>
              <p:spPr>
                <a:xfrm>
                  <a:off x="879238" y="4672294"/>
                  <a:ext cx="3475500" cy="37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7" name="Google Shape;187;p9"/>
              <p:cNvSpPr txBox="1"/>
              <p:nvPr/>
            </p:nvSpPr>
            <p:spPr>
              <a:xfrm>
                <a:off x="6520668" y="1512767"/>
                <a:ext cx="5652900" cy="3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This ad set generated 80 leads at $8.95 cost per lead, spending $716 to reach 7,407 people across 9,784 impressions. The ad set achieved a 1.71% click-through rate at $6.35 cost per click, indicating solid audience interest in the lead form.</a:t>
                </a:r>
                <a:endParaRPr b="0" i="0" sz="14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188" name="Google Shape;188;p9"/>
            <p:cNvGrpSpPr/>
            <p:nvPr/>
          </p:nvGrpSpPr>
          <p:grpSpPr>
            <a:xfrm>
              <a:off x="6312826" y="3244368"/>
              <a:ext cx="5861100" cy="854749"/>
              <a:chOff x="6312826" y="1374667"/>
              <a:chExt cx="5861100" cy="854749"/>
            </a:xfrm>
          </p:grpSpPr>
          <p:grpSp>
            <p:nvGrpSpPr>
              <p:cNvPr id="189" name="Google Shape;189;p9"/>
              <p:cNvGrpSpPr/>
              <p:nvPr/>
            </p:nvGrpSpPr>
            <p:grpSpPr>
              <a:xfrm>
                <a:off x="6968569" y="1374667"/>
                <a:ext cx="3833267" cy="379800"/>
                <a:chOff x="521471" y="4928094"/>
                <a:chExt cx="3833267" cy="379800"/>
              </a:xfrm>
            </p:grpSpPr>
            <p:cxnSp>
              <p:nvCxnSpPr>
                <p:cNvPr id="190" name="Google Shape;190;p9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191" name="Google Shape;191;p9"/>
                <p:cNvSpPr txBox="1"/>
                <p:nvPr/>
              </p:nvSpPr>
              <p:spPr>
                <a:xfrm>
                  <a:off x="879238" y="4928094"/>
                  <a:ext cx="3475500" cy="37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92" name="Google Shape;192;p9"/>
              <p:cNvSpPr txBox="1"/>
              <p:nvPr/>
            </p:nvSpPr>
            <p:spPr>
              <a:xfrm>
                <a:off x="6312826" y="1901216"/>
                <a:ext cx="5861100" cy="32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193" name="Google Shape;193;p9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194" name="Google Shape;194;p9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195" name="Google Shape;195;p9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" name="Google Shape;196;p9"/>
          <p:cNvSpPr txBox="1"/>
          <p:nvPr/>
        </p:nvSpPr>
        <p:spPr>
          <a:xfrm>
            <a:off x="7336645" y="1693916"/>
            <a:ext cx="3919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August 14 - August 20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Ad Frequency: 1.3x avg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7" name="Google Shape;197;p9"/>
          <p:cNvSpPr txBox="1"/>
          <p:nvPr/>
        </p:nvSpPr>
        <p:spPr>
          <a:xfrm>
            <a:off x="379359" y="324692"/>
            <a:ext cx="114333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Lead Campaign_ InstantForms</a:t>
            </a:r>
            <a:r>
              <a:rPr b="0" i="0" lang="en-US" sz="1400" u="none" cap="none" strike="noStrike">
                <a:solidFill>
                  <a:srgbClr val="F6AD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(ad set)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6551700" y="4894275"/>
            <a:ext cx="5590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400"/>
              <a:buFont typeface="Arial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week the ad set spent $716 reaching 7,407 people with a 1.71% CTR. With 80 META FORM LEADS recorded, the campaign shows developing traction at $8.95 per result. To maximise results, budget will shift toward top-performing ads while underperformers are paused, with fresh creatives and refined targeting planned for the coming week.</a:t>
            </a:r>
            <a:endParaRPr b="1" i="0" sz="14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Google Shape;203;p10"/>
          <p:cNvGrpSpPr/>
          <p:nvPr/>
        </p:nvGrpSpPr>
        <p:grpSpPr>
          <a:xfrm>
            <a:off x="484132" y="1302382"/>
            <a:ext cx="2907213" cy="1030194"/>
            <a:chOff x="252641" y="1209792"/>
            <a:chExt cx="2354400" cy="834300"/>
          </a:xfrm>
        </p:grpSpPr>
        <p:sp>
          <p:nvSpPr>
            <p:cNvPr id="204" name="Google Shape;204;p10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5" name="Google Shape;205;p10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206" name="Google Shape;206;p10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07" name="Google Shape;207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08" name="Google Shape;208;p10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209" name="Google Shape;209;p10"/>
              <p:cNvSpPr txBox="1"/>
              <p:nvPr/>
            </p:nvSpPr>
            <p:spPr>
              <a:xfrm>
                <a:off x="1112490" y="1363887"/>
                <a:ext cx="1485300" cy="2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AD SPEND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0" name="Google Shape;210;p10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$223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1" name="Google Shape;211;p10"/>
          <p:cNvGrpSpPr/>
          <p:nvPr/>
        </p:nvGrpSpPr>
        <p:grpSpPr>
          <a:xfrm>
            <a:off x="484132" y="2583378"/>
            <a:ext cx="2907213" cy="1030194"/>
            <a:chOff x="252641" y="1209792"/>
            <a:chExt cx="2354400" cy="834300"/>
          </a:xfrm>
        </p:grpSpPr>
        <p:sp>
          <p:nvSpPr>
            <p:cNvPr id="212" name="Google Shape;212;p10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13" name="Google Shape;213;p10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214" name="Google Shape;214;p10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15" name="Google Shape;215;p1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16" name="Google Shape;216;p10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217" name="Google Shape;217;p10"/>
              <p:cNvSpPr txBox="1"/>
              <p:nvPr/>
            </p:nvSpPr>
            <p:spPr>
              <a:xfrm>
                <a:off x="1112490" y="1363887"/>
                <a:ext cx="1485300" cy="2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REACH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10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3,628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19" name="Google Shape;219;p10"/>
          <p:cNvGrpSpPr/>
          <p:nvPr/>
        </p:nvGrpSpPr>
        <p:grpSpPr>
          <a:xfrm>
            <a:off x="484132" y="3864374"/>
            <a:ext cx="2907213" cy="1030194"/>
            <a:chOff x="252641" y="1209792"/>
            <a:chExt cx="2354400" cy="834300"/>
          </a:xfrm>
        </p:grpSpPr>
        <p:sp>
          <p:nvSpPr>
            <p:cNvPr id="220" name="Google Shape;220;p10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1" name="Google Shape;221;p10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222" name="Google Shape;222;p10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23" name="Google Shape;223;p1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24" name="Google Shape;224;p10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225" name="Google Shape;225;p10"/>
              <p:cNvSpPr txBox="1"/>
              <p:nvPr/>
            </p:nvSpPr>
            <p:spPr>
              <a:xfrm>
                <a:off x="1112490" y="1363887"/>
                <a:ext cx="1485300" cy="2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IMPRESSIONS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10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6,687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7" name="Google Shape;227;p10"/>
          <p:cNvGrpSpPr/>
          <p:nvPr/>
        </p:nvGrpSpPr>
        <p:grpSpPr>
          <a:xfrm>
            <a:off x="484132" y="5145369"/>
            <a:ext cx="2907213" cy="1030194"/>
            <a:chOff x="252641" y="1209792"/>
            <a:chExt cx="2354400" cy="834300"/>
          </a:xfrm>
        </p:grpSpPr>
        <p:sp>
          <p:nvSpPr>
            <p:cNvPr id="228" name="Google Shape;228;p10"/>
            <p:cNvSpPr/>
            <p:nvPr/>
          </p:nvSpPr>
          <p:spPr>
            <a:xfrm>
              <a:off x="252641" y="1209792"/>
              <a:ext cx="2354400" cy="834300"/>
            </a:xfrm>
            <a:prstGeom prst="roundRect">
              <a:avLst>
                <a:gd fmla="val 12280" name="adj"/>
              </a:avLst>
            </a:prstGeom>
            <a:solidFill>
              <a:schemeClr val="accent5"/>
            </a:soli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9" name="Google Shape;229;p10"/>
            <p:cNvGrpSpPr/>
            <p:nvPr/>
          </p:nvGrpSpPr>
          <p:grpSpPr>
            <a:xfrm>
              <a:off x="350081" y="1337023"/>
              <a:ext cx="581069" cy="581069"/>
              <a:chOff x="3105456" y="1218956"/>
              <a:chExt cx="1118516" cy="1118516"/>
            </a:xfrm>
          </p:grpSpPr>
          <p:sp>
            <p:nvSpPr>
              <p:cNvPr id="230" name="Google Shape;230;p10"/>
              <p:cNvSpPr/>
              <p:nvPr/>
            </p:nvSpPr>
            <p:spPr>
              <a:xfrm>
                <a:off x="3105456" y="1218956"/>
                <a:ext cx="1118516" cy="1118516"/>
              </a:xfrm>
              <a:custGeom>
                <a:rect b="b" l="l" r="r" t="t"/>
                <a:pathLst>
                  <a:path extrusionOk="0" h="2924226" w="2924226">
                    <a:moveTo>
                      <a:pt x="2924227" y="1462113"/>
                    </a:moveTo>
                    <a:cubicBezTo>
                      <a:pt x="2924227" y="2269616"/>
                      <a:pt x="2269616" y="2924227"/>
                      <a:pt x="1462113" y="2924227"/>
                    </a:cubicBezTo>
                    <a:cubicBezTo>
                      <a:pt x="654609" y="2924227"/>
                      <a:pt x="-1" y="2269616"/>
                      <a:pt x="-1" y="1462113"/>
                    </a:cubicBezTo>
                    <a:cubicBezTo>
                      <a:pt x="-1" y="654610"/>
                      <a:pt x="654609" y="0"/>
                      <a:pt x="1462113" y="0"/>
                    </a:cubicBezTo>
                    <a:cubicBezTo>
                      <a:pt x="2269616" y="0"/>
                      <a:pt x="2924227" y="654610"/>
                      <a:pt x="2924227" y="146211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2"/>
                  </a:gs>
                  <a:gs pos="5000">
                    <a:schemeClr val="accent2"/>
                  </a:gs>
                  <a:gs pos="34000">
                    <a:schemeClr val="accent1"/>
                  </a:gs>
                  <a:gs pos="64000">
                    <a:schemeClr val="accent3"/>
                  </a:gs>
                  <a:gs pos="90000">
                    <a:schemeClr val="accent4"/>
                  </a:gs>
                  <a:gs pos="100000">
                    <a:schemeClr val="accent4"/>
                  </a:gs>
                </a:gsLst>
                <a:lin ang="2700006" scaled="0"/>
              </a:gradFill>
              <a:ln>
                <a:noFill/>
              </a:ln>
              <a:effectLst>
                <a:outerShdw blurRad="190500" sx="99000" rotWithShape="0" algn="t" dir="5400000" dist="63500" sy="99000">
                  <a:srgbClr val="000000">
                    <a:alpha val="2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31" name="Google Shape;231;p1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3393457" y="1506957"/>
                <a:ext cx="540001" cy="54000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177800" rotWithShape="0" algn="tl" dir="2700000" dist="114300">
                  <a:srgbClr val="000000">
                    <a:alpha val="40000"/>
                  </a:srgbClr>
                </a:outerShdw>
              </a:effectLst>
            </p:spPr>
          </p:pic>
        </p:grpSp>
        <p:grpSp>
          <p:nvGrpSpPr>
            <p:cNvPr id="232" name="Google Shape;232;p10"/>
            <p:cNvGrpSpPr/>
            <p:nvPr/>
          </p:nvGrpSpPr>
          <p:grpSpPr>
            <a:xfrm>
              <a:off x="1112490" y="1359067"/>
              <a:ext cx="1485300" cy="592900"/>
              <a:chOff x="1112490" y="1363887"/>
              <a:chExt cx="1485300" cy="592900"/>
            </a:xfrm>
          </p:grpSpPr>
          <p:sp>
            <p:nvSpPr>
              <p:cNvPr id="233" name="Google Shape;233;p10"/>
              <p:cNvSpPr txBox="1"/>
              <p:nvPr/>
            </p:nvSpPr>
            <p:spPr>
              <a:xfrm>
                <a:off x="1112490" y="1363887"/>
                <a:ext cx="1485300" cy="224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5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rPr>
                  <a:t>PURCHASES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10"/>
              <p:cNvSpPr txBox="1"/>
              <p:nvPr/>
            </p:nvSpPr>
            <p:spPr>
              <a:xfrm>
                <a:off x="1112490" y="1620187"/>
                <a:ext cx="1485300" cy="336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0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r>
                  <a:rPr b="1" i="0" lang="en-US" sz="2100" u="none" cap="none" strike="noStrike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15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5" name="Google Shape;235;p10"/>
          <p:cNvSpPr/>
          <p:nvPr/>
        </p:nvSpPr>
        <p:spPr>
          <a:xfrm>
            <a:off x="3593639" y="1302389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6" name="Google Shape;236;p10"/>
          <p:cNvGrpSpPr/>
          <p:nvPr/>
        </p:nvGrpSpPr>
        <p:grpSpPr>
          <a:xfrm>
            <a:off x="3714017" y="1459517"/>
            <a:ext cx="717528" cy="717528"/>
            <a:chOff x="3105456" y="1218956"/>
            <a:chExt cx="1118516" cy="1118516"/>
          </a:xfrm>
        </p:grpSpPr>
        <p:sp>
          <p:nvSpPr>
            <p:cNvPr id="237" name="Google Shape;237;p10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38" name="Google Shape;238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239" name="Google Shape;239;p10"/>
          <p:cNvGrpSpPr/>
          <p:nvPr/>
        </p:nvGrpSpPr>
        <p:grpSpPr>
          <a:xfrm>
            <a:off x="4655379" y="1486708"/>
            <a:ext cx="1834048" cy="732113"/>
            <a:chOff x="1112490" y="1363887"/>
            <a:chExt cx="1485300" cy="592900"/>
          </a:xfrm>
        </p:grpSpPr>
        <p:sp>
          <p:nvSpPr>
            <p:cNvPr id="240" name="Google Shape;240;p10"/>
            <p:cNvSpPr txBox="1"/>
            <p:nvPr/>
          </p:nvSpPr>
          <p:spPr>
            <a:xfrm>
              <a:off x="1112490" y="1363887"/>
              <a:ext cx="1485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COST PER PURCHASE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10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$14.87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2" name="Google Shape;242;p10"/>
          <p:cNvSpPr/>
          <p:nvPr/>
        </p:nvSpPr>
        <p:spPr>
          <a:xfrm>
            <a:off x="3593639" y="2583385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3" name="Google Shape;243;p10"/>
          <p:cNvGrpSpPr/>
          <p:nvPr/>
        </p:nvGrpSpPr>
        <p:grpSpPr>
          <a:xfrm>
            <a:off x="3714017" y="2740513"/>
            <a:ext cx="717528" cy="717528"/>
            <a:chOff x="3105456" y="1218956"/>
            <a:chExt cx="1118516" cy="1118516"/>
          </a:xfrm>
        </p:grpSpPr>
        <p:sp>
          <p:nvSpPr>
            <p:cNvPr id="244" name="Google Shape;244;p10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45" name="Google Shape;245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393457" y="1506957"/>
              <a:ext cx="540000" cy="540000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246" name="Google Shape;246;p10"/>
          <p:cNvGrpSpPr/>
          <p:nvPr/>
        </p:nvGrpSpPr>
        <p:grpSpPr>
          <a:xfrm>
            <a:off x="4655379" y="2767704"/>
            <a:ext cx="1834048" cy="732113"/>
            <a:chOff x="1112490" y="1363887"/>
            <a:chExt cx="1485300" cy="592900"/>
          </a:xfrm>
        </p:grpSpPr>
        <p:sp>
          <p:nvSpPr>
            <p:cNvPr id="247" name="Google Shape;247;p10"/>
            <p:cNvSpPr txBox="1"/>
            <p:nvPr/>
          </p:nvSpPr>
          <p:spPr>
            <a:xfrm>
              <a:off x="1112490" y="1363887"/>
              <a:ext cx="1485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CTR (ALL)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10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2.11%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9" name="Google Shape;249;p10"/>
          <p:cNvSpPr/>
          <p:nvPr/>
        </p:nvSpPr>
        <p:spPr>
          <a:xfrm>
            <a:off x="3593639" y="3864381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10"/>
          <p:cNvGrpSpPr/>
          <p:nvPr/>
        </p:nvGrpSpPr>
        <p:grpSpPr>
          <a:xfrm>
            <a:off x="3714017" y="4021509"/>
            <a:ext cx="717528" cy="717528"/>
            <a:chOff x="3105456" y="1218956"/>
            <a:chExt cx="1118516" cy="1118516"/>
          </a:xfrm>
        </p:grpSpPr>
        <p:sp>
          <p:nvSpPr>
            <p:cNvPr id="251" name="Google Shape;251;p10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2" name="Google Shape;252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253" name="Google Shape;253;p10"/>
          <p:cNvGrpSpPr/>
          <p:nvPr/>
        </p:nvGrpSpPr>
        <p:grpSpPr>
          <a:xfrm>
            <a:off x="4655379" y="4048700"/>
            <a:ext cx="1834048" cy="732113"/>
            <a:chOff x="1112490" y="1363887"/>
            <a:chExt cx="1485300" cy="592900"/>
          </a:xfrm>
        </p:grpSpPr>
        <p:sp>
          <p:nvSpPr>
            <p:cNvPr id="254" name="Google Shape;254;p10"/>
            <p:cNvSpPr txBox="1"/>
            <p:nvPr/>
          </p:nvSpPr>
          <p:spPr>
            <a:xfrm>
              <a:off x="1112490" y="1363887"/>
              <a:ext cx="1485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LINK CLICKS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0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64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10"/>
          <p:cNvSpPr/>
          <p:nvPr/>
        </p:nvSpPr>
        <p:spPr>
          <a:xfrm>
            <a:off x="3593639" y="5145377"/>
            <a:ext cx="2907300" cy="1029900"/>
          </a:xfrm>
          <a:prstGeom prst="roundRect">
            <a:avLst>
              <a:gd fmla="val 12280" name="adj"/>
            </a:avLst>
          </a:prstGeom>
          <a:solidFill>
            <a:schemeClr val="accent5"/>
          </a:solidFill>
          <a:ln>
            <a:noFill/>
          </a:ln>
          <a:effectLst>
            <a:outerShdw blurRad="190500" sx="99000" rotWithShape="0" algn="t" dir="5400000" dist="63500" sy="99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p10"/>
          <p:cNvGrpSpPr/>
          <p:nvPr/>
        </p:nvGrpSpPr>
        <p:grpSpPr>
          <a:xfrm>
            <a:off x="3714017" y="5302505"/>
            <a:ext cx="717528" cy="717528"/>
            <a:chOff x="3105456" y="1218956"/>
            <a:chExt cx="1118516" cy="1118516"/>
          </a:xfrm>
        </p:grpSpPr>
        <p:sp>
          <p:nvSpPr>
            <p:cNvPr id="258" name="Google Shape;258;p10"/>
            <p:cNvSpPr/>
            <p:nvPr/>
          </p:nvSpPr>
          <p:spPr>
            <a:xfrm>
              <a:off x="3105456" y="1218956"/>
              <a:ext cx="1118516" cy="1118516"/>
            </a:xfrm>
            <a:custGeom>
              <a:rect b="b" l="l" r="r" t="t"/>
              <a:pathLst>
                <a:path extrusionOk="0" h="2924226" w="2924226">
                  <a:moveTo>
                    <a:pt x="2924227" y="1462113"/>
                  </a:moveTo>
                  <a:cubicBezTo>
                    <a:pt x="2924227" y="2269616"/>
                    <a:pt x="2269616" y="2924227"/>
                    <a:pt x="1462113" y="2924227"/>
                  </a:cubicBezTo>
                  <a:cubicBezTo>
                    <a:pt x="654609" y="2924227"/>
                    <a:pt x="-1" y="2269616"/>
                    <a:pt x="-1" y="1462113"/>
                  </a:cubicBezTo>
                  <a:cubicBezTo>
                    <a:pt x="-1" y="654610"/>
                    <a:pt x="654609" y="0"/>
                    <a:pt x="1462113" y="0"/>
                  </a:cubicBezTo>
                  <a:cubicBezTo>
                    <a:pt x="2269616" y="0"/>
                    <a:pt x="2924227" y="654610"/>
                    <a:pt x="2924227" y="1462113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5000">
                  <a:schemeClr val="accent2"/>
                </a:gs>
                <a:gs pos="34000">
                  <a:schemeClr val="accent1"/>
                </a:gs>
                <a:gs pos="64000">
                  <a:schemeClr val="accent3"/>
                </a:gs>
                <a:gs pos="90000">
                  <a:schemeClr val="accent4"/>
                </a:gs>
                <a:gs pos="100000">
                  <a:schemeClr val="accent4"/>
                </a:gs>
              </a:gsLst>
              <a:lin ang="2700006" scaled="0"/>
            </a:gradFill>
            <a:ln>
              <a:noFill/>
            </a:ln>
            <a:effectLst>
              <a:outerShdw blurRad="190500" sx="99000" rotWithShape="0" algn="t" dir="5400000" dist="63500" sy="99000">
                <a:srgbClr val="000000">
                  <a:alpha val="2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00"/>
                <a:buFont typeface="Arial"/>
                <a:buNone/>
              </a:pPr>
              <a:r>
                <a:t/>
              </a:r>
              <a:endParaRPr b="0" i="0" sz="1300" u="none" cap="none" strike="noStrik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59" name="Google Shape;259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3393457" y="1506957"/>
              <a:ext cx="540001" cy="540001"/>
            </a:xfrm>
            <a:prstGeom prst="rect">
              <a:avLst/>
            </a:prstGeom>
            <a:noFill/>
            <a:ln>
              <a:noFill/>
            </a:ln>
            <a:effectLst>
              <a:outerShdw blurRad="177800" rotWithShape="0" algn="tl" dir="2700000" dist="114300">
                <a:srgbClr val="000000">
                  <a:alpha val="40000"/>
                </a:srgbClr>
              </a:outerShdw>
            </a:effectLst>
          </p:spPr>
        </p:pic>
      </p:grpSp>
      <p:grpSp>
        <p:nvGrpSpPr>
          <p:cNvPr id="260" name="Google Shape;260;p10"/>
          <p:cNvGrpSpPr/>
          <p:nvPr/>
        </p:nvGrpSpPr>
        <p:grpSpPr>
          <a:xfrm>
            <a:off x="4655379" y="5329696"/>
            <a:ext cx="1834048" cy="732113"/>
            <a:chOff x="1112490" y="1363887"/>
            <a:chExt cx="1485300" cy="592900"/>
          </a:xfrm>
        </p:grpSpPr>
        <p:sp>
          <p:nvSpPr>
            <p:cNvPr id="261" name="Google Shape;261;p10"/>
            <p:cNvSpPr txBox="1"/>
            <p:nvPr/>
          </p:nvSpPr>
          <p:spPr>
            <a:xfrm>
              <a:off x="1112490" y="1363887"/>
              <a:ext cx="1485300" cy="22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LANDING PAGE VIEWS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0"/>
            <p:cNvSpPr txBox="1"/>
            <p:nvPr/>
          </p:nvSpPr>
          <p:spPr>
            <a:xfrm>
              <a:off x="1112490" y="1620187"/>
              <a:ext cx="148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0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n-US" sz="2100" u="none" cap="none" strike="noStrike">
                  <a:solidFill>
                    <a:schemeClr val="lt1"/>
                  </a:solidFill>
                  <a:latin typeface="Poppins"/>
                  <a:ea typeface="Poppins"/>
                  <a:cs typeface="Poppins"/>
                  <a:sym typeface="Poppins"/>
                </a:rPr>
                <a:t>89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3" name="Google Shape;263;p10"/>
          <p:cNvGrpSpPr/>
          <p:nvPr/>
        </p:nvGrpSpPr>
        <p:grpSpPr>
          <a:xfrm>
            <a:off x="6501236" y="2578553"/>
            <a:ext cx="5691128" cy="2655999"/>
            <a:chOff x="6312826" y="1118867"/>
            <a:chExt cx="5861100" cy="2980250"/>
          </a:xfrm>
        </p:grpSpPr>
        <p:grpSp>
          <p:nvGrpSpPr>
            <p:cNvPr id="264" name="Google Shape;264;p10"/>
            <p:cNvGrpSpPr/>
            <p:nvPr/>
          </p:nvGrpSpPr>
          <p:grpSpPr>
            <a:xfrm>
              <a:off x="6520668" y="1118867"/>
              <a:ext cx="5652900" cy="786300"/>
              <a:chOff x="6520668" y="1118867"/>
              <a:chExt cx="5652900" cy="786300"/>
            </a:xfrm>
          </p:grpSpPr>
          <p:grpSp>
            <p:nvGrpSpPr>
              <p:cNvPr id="265" name="Google Shape;265;p10"/>
              <p:cNvGrpSpPr/>
              <p:nvPr/>
            </p:nvGrpSpPr>
            <p:grpSpPr>
              <a:xfrm>
                <a:off x="6968569" y="1118867"/>
                <a:ext cx="3833267" cy="379800"/>
                <a:chOff x="521471" y="4672294"/>
                <a:chExt cx="3833267" cy="379800"/>
              </a:xfrm>
            </p:grpSpPr>
            <p:cxnSp>
              <p:nvCxnSpPr>
                <p:cNvPr id="266" name="Google Shape;266;p10"/>
                <p:cNvCxnSpPr/>
                <p:nvPr/>
              </p:nvCxnSpPr>
              <p:spPr>
                <a:xfrm>
                  <a:off x="521471" y="48290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3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267" name="Google Shape;267;p10"/>
                <p:cNvSpPr txBox="1"/>
                <p:nvPr/>
              </p:nvSpPr>
              <p:spPr>
                <a:xfrm>
                  <a:off x="879238" y="4672294"/>
                  <a:ext cx="3475500" cy="37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CAMPAIGN SUMMARY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8" name="Google Shape;268;p10"/>
              <p:cNvSpPr txBox="1"/>
              <p:nvPr/>
            </p:nvSpPr>
            <p:spPr>
              <a:xfrm>
                <a:off x="6520668" y="1512767"/>
                <a:ext cx="5652900" cy="39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b="0" i="0" lang="en-US" sz="1400" u="none" cap="none" strike="noStrike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This campaign generated 15 purchase at $14.87 cost per purchase, spending $223 to reach 3,628 people across 6,687 impressions. The campaign achieved a 2.11% click-through rate at $1.25 cost per click, indicating solid audience interest in your offering this week.</a:t>
                </a:r>
                <a:endParaRPr b="0" i="0" sz="1400" u="none" cap="none" strike="noStrike">
                  <a:solidFill>
                    <a:srgbClr val="BFBFBF"/>
                  </a:solidFill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  <p:grpSp>
          <p:nvGrpSpPr>
            <p:cNvPr id="269" name="Google Shape;269;p10"/>
            <p:cNvGrpSpPr/>
            <p:nvPr/>
          </p:nvGrpSpPr>
          <p:grpSpPr>
            <a:xfrm>
              <a:off x="6312826" y="3244368"/>
              <a:ext cx="5861100" cy="854749"/>
              <a:chOff x="6312826" y="1374667"/>
              <a:chExt cx="5861100" cy="854749"/>
            </a:xfrm>
          </p:grpSpPr>
          <p:grpSp>
            <p:nvGrpSpPr>
              <p:cNvPr id="270" name="Google Shape;270;p10"/>
              <p:cNvGrpSpPr/>
              <p:nvPr/>
            </p:nvGrpSpPr>
            <p:grpSpPr>
              <a:xfrm>
                <a:off x="6968569" y="1374667"/>
                <a:ext cx="3833267" cy="379800"/>
                <a:chOff x="521471" y="4928094"/>
                <a:chExt cx="3833267" cy="379800"/>
              </a:xfrm>
            </p:grpSpPr>
            <p:cxnSp>
              <p:nvCxnSpPr>
                <p:cNvPr id="271" name="Google Shape;271;p10"/>
                <p:cNvCxnSpPr/>
                <p:nvPr/>
              </p:nvCxnSpPr>
              <p:spPr>
                <a:xfrm>
                  <a:off x="521471" y="5097434"/>
                  <a:ext cx="291900" cy="0"/>
                </a:xfrm>
                <a:prstGeom prst="straightConnector1">
                  <a:avLst/>
                </a:prstGeom>
                <a:noFill/>
                <a:ln cap="rnd" cmpd="sng" w="38100">
                  <a:solidFill>
                    <a:schemeClr val="accent1"/>
                  </a:solidFill>
                  <a:prstDash val="solid"/>
                  <a:round/>
                  <a:headEnd len="sm" w="sm" type="none"/>
                  <a:tailEnd len="med" w="med" type="stealth"/>
                </a:ln>
              </p:spPr>
            </p:cxnSp>
            <p:sp>
              <p:nvSpPr>
                <p:cNvPr id="272" name="Google Shape;272;p10"/>
                <p:cNvSpPr txBox="1"/>
                <p:nvPr/>
              </p:nvSpPr>
              <p:spPr>
                <a:xfrm>
                  <a:off x="879238" y="4928094"/>
                  <a:ext cx="3475500" cy="379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b="0" i="0" lang="en-US" sz="16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KEY INSIGHTS &amp; UPDATES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73" name="Google Shape;273;p10"/>
              <p:cNvSpPr txBox="1"/>
              <p:nvPr/>
            </p:nvSpPr>
            <p:spPr>
              <a:xfrm>
                <a:off x="6312826" y="1901216"/>
                <a:ext cx="5861100" cy="32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t/>
                </a:r>
                <a:endParaRPr b="0" i="0" sz="1300" u="none" cap="none" strike="noStrike">
                  <a:solidFill>
                    <a:srgbClr val="FFFFFF"/>
                  </a:solidFill>
                  <a:highlight>
                    <a:srgbClr val="22262B"/>
                  </a:highlight>
                  <a:latin typeface="Open Sans"/>
                  <a:ea typeface="Open Sans"/>
                  <a:cs typeface="Open Sans"/>
                  <a:sym typeface="Open Sans"/>
                </a:endParaRPr>
              </a:p>
            </p:txBody>
          </p:sp>
        </p:grpSp>
      </p:grpSp>
      <p:grpSp>
        <p:nvGrpSpPr>
          <p:cNvPr id="274" name="Google Shape;274;p10"/>
          <p:cNvGrpSpPr/>
          <p:nvPr/>
        </p:nvGrpSpPr>
        <p:grpSpPr>
          <a:xfrm>
            <a:off x="6968569" y="1302392"/>
            <a:ext cx="3833267" cy="338700"/>
            <a:chOff x="521471" y="4824694"/>
            <a:chExt cx="3833267" cy="338700"/>
          </a:xfrm>
        </p:grpSpPr>
        <p:cxnSp>
          <p:nvCxnSpPr>
            <p:cNvPr id="275" name="Google Shape;275;p10"/>
            <p:cNvCxnSpPr/>
            <p:nvPr/>
          </p:nvCxnSpPr>
          <p:spPr>
            <a:xfrm>
              <a:off x="521471" y="4981434"/>
              <a:ext cx="291900" cy="0"/>
            </a:xfrm>
            <a:prstGeom prst="straightConnector1">
              <a:avLst/>
            </a:prstGeom>
            <a:noFill/>
            <a:ln cap="rnd" cmpd="sng" w="38100">
              <a:solidFill>
                <a:schemeClr val="accent2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276" name="Google Shape;276;p10"/>
            <p:cNvSpPr txBox="1"/>
            <p:nvPr/>
          </p:nvSpPr>
          <p:spPr>
            <a:xfrm>
              <a:off x="879238" y="4824694"/>
              <a:ext cx="3475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DATE RANGE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7" name="Google Shape;277;p10"/>
          <p:cNvSpPr txBox="1"/>
          <p:nvPr/>
        </p:nvSpPr>
        <p:spPr>
          <a:xfrm>
            <a:off x="7336645" y="1693916"/>
            <a:ext cx="3919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August 14 - August 20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BFBFBF"/>
                </a:solidFill>
                <a:latin typeface="Open Sans"/>
                <a:ea typeface="Open Sans"/>
                <a:cs typeface="Open Sans"/>
                <a:sym typeface="Open Sans"/>
              </a:rPr>
              <a:t>Ad Frequency: 1.8x avg</a:t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BFBFB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379359" y="324692"/>
            <a:ext cx="11433300" cy="7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YOUR WEEKLY PERFORMANCE REPORT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Purchase Campaign | CBO | Conversion</a:t>
            </a:r>
            <a:r>
              <a:rPr b="0" i="0" lang="en-US" sz="1400" u="none" cap="none" strike="noStrike">
                <a:solidFill>
                  <a:srgbClr val="F6AD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(Campaign)</a:t>
            </a:r>
            <a:endParaRPr b="0" i="0" sz="2800" u="none" cap="none" strike="noStrike">
              <a:solidFill>
                <a:srgbClr val="FFFFFF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6551700" y="4894275"/>
            <a:ext cx="5590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Char char="●"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Your Purchase Campaign generated solid reach of 3,628 people with a 2.11% click-through rate, indicating strong audience interest in your messaging. However, 15 purchases at $14.87 cost per acquisition suggests the campaign needs further optimization to improve conversion efficiency.</a:t>
            </a:r>
            <a:endParaRPr b="1" i="0" sz="13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11"/>
          <p:cNvPicPr preferRelativeResize="0"/>
          <p:nvPr/>
        </p:nvPicPr>
        <p:blipFill rotWithShape="1">
          <a:blip r:embed="rId3">
            <a:alphaModFix/>
          </a:blip>
          <a:srcRect b="1250" l="769" r="2000" t="0"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11"/>
          <p:cNvSpPr txBox="1"/>
          <p:nvPr/>
        </p:nvSpPr>
        <p:spPr>
          <a:xfrm>
            <a:off x="0" y="431800"/>
            <a:ext cx="12192000" cy="43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94A3B8"/>
                </a:solidFill>
                <a:latin typeface="Poppins"/>
                <a:ea typeface="Poppins"/>
                <a:cs typeface="Poppins"/>
                <a:sym typeface="Poppins"/>
              </a:rPr>
              <a:t>August Campaign Performance: August 1 - August 20,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 txBox="1"/>
          <p:nvPr/>
        </p:nvSpPr>
        <p:spPr>
          <a:xfrm>
            <a:off x="0" y="1041400"/>
            <a:ext cx="1219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Month to Date Spend:  A$1,076     ·     3 Active Campaigns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1"/>
          <p:cNvSpPr txBox="1"/>
          <p:nvPr/>
        </p:nvSpPr>
        <p:spPr>
          <a:xfrm>
            <a:off x="254000" y="1600200"/>
            <a:ext cx="3721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Website_Leads Campaign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838200" y="2286000"/>
            <a:ext cx="2540000" cy="2540000"/>
          </a:xfrm>
          <a:prstGeom prst="ellipse">
            <a:avLst/>
          </a:prstGeom>
          <a:solidFill>
            <a:srgbClr val="F6AD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1219200" y="2667000"/>
            <a:ext cx="1778000" cy="1778000"/>
          </a:xfrm>
          <a:prstGeom prst="ellipse">
            <a:avLst/>
          </a:prstGeom>
          <a:solidFill>
            <a:srgbClr val="0D1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1282700" y="32766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$137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1"/>
          <p:cNvSpPr txBox="1"/>
          <p:nvPr/>
        </p:nvSpPr>
        <p:spPr>
          <a:xfrm>
            <a:off x="1282700" y="3606800"/>
            <a:ext cx="165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AD SPEND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727200" y="4953000"/>
            <a:ext cx="762000" cy="1270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254000" y="5029200"/>
            <a:ext cx="3721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254000" y="5410200"/>
            <a:ext cx="372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QUOTE REQUEST SUBMITTED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254000" y="56134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$7.61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254000" y="5918200"/>
            <a:ext cx="372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COST PER QUOTE REQUEST SUBMITTED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4229100" y="1600200"/>
            <a:ext cx="3721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Lead Campaign_Instant Forms Campaign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4813300" y="2286000"/>
            <a:ext cx="2540000" cy="2540000"/>
          </a:xfrm>
          <a:prstGeom prst="ellipse">
            <a:avLst/>
          </a:prstGeom>
          <a:solidFill>
            <a:srgbClr val="63B3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5194300" y="2667000"/>
            <a:ext cx="1778000" cy="1778000"/>
          </a:xfrm>
          <a:prstGeom prst="ellipse">
            <a:avLst/>
          </a:prstGeom>
          <a:solidFill>
            <a:srgbClr val="0D1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1"/>
          <p:cNvSpPr txBox="1"/>
          <p:nvPr/>
        </p:nvSpPr>
        <p:spPr>
          <a:xfrm>
            <a:off x="5257800" y="32766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$716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1"/>
          <p:cNvSpPr txBox="1"/>
          <p:nvPr/>
        </p:nvSpPr>
        <p:spPr>
          <a:xfrm>
            <a:off x="5257800" y="3606800"/>
            <a:ext cx="165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AD SPEND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5702300" y="4953000"/>
            <a:ext cx="762000" cy="127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1"/>
          <p:cNvSpPr txBox="1"/>
          <p:nvPr/>
        </p:nvSpPr>
        <p:spPr>
          <a:xfrm>
            <a:off x="4229100" y="5029200"/>
            <a:ext cx="3721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1"/>
          <p:cNvSpPr txBox="1"/>
          <p:nvPr/>
        </p:nvSpPr>
        <p:spPr>
          <a:xfrm>
            <a:off x="4229100" y="5410200"/>
            <a:ext cx="372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META FORM LEADS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1"/>
          <p:cNvSpPr txBox="1"/>
          <p:nvPr/>
        </p:nvSpPr>
        <p:spPr>
          <a:xfrm>
            <a:off x="4229100" y="56134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$8.95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"/>
          <p:cNvSpPr txBox="1"/>
          <p:nvPr/>
        </p:nvSpPr>
        <p:spPr>
          <a:xfrm>
            <a:off x="4229100" y="5918200"/>
            <a:ext cx="372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COST PER META FORM LEADS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1"/>
          <p:cNvSpPr txBox="1"/>
          <p:nvPr/>
        </p:nvSpPr>
        <p:spPr>
          <a:xfrm>
            <a:off x="8204200" y="1600200"/>
            <a:ext cx="3721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Purchase Campaign | CBO | Conversion Campaign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1"/>
          <p:cNvSpPr/>
          <p:nvPr/>
        </p:nvSpPr>
        <p:spPr>
          <a:xfrm>
            <a:off x="8788400" y="2286000"/>
            <a:ext cx="2540000" cy="2540000"/>
          </a:xfrm>
          <a:prstGeom prst="ellipse">
            <a:avLst/>
          </a:prstGeom>
          <a:solidFill>
            <a:srgbClr val="68D3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9169400" y="2667000"/>
            <a:ext cx="1778000" cy="1778000"/>
          </a:xfrm>
          <a:prstGeom prst="ellipse">
            <a:avLst/>
          </a:prstGeom>
          <a:solidFill>
            <a:srgbClr val="0D1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1"/>
          <p:cNvSpPr txBox="1"/>
          <p:nvPr/>
        </p:nvSpPr>
        <p:spPr>
          <a:xfrm>
            <a:off x="9232900" y="3276600"/>
            <a:ext cx="165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$223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11"/>
          <p:cNvSpPr txBox="1"/>
          <p:nvPr/>
        </p:nvSpPr>
        <p:spPr>
          <a:xfrm>
            <a:off x="9232900" y="3606800"/>
            <a:ext cx="1651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AD SPEND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9677400" y="4953000"/>
            <a:ext cx="762000" cy="12700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1"/>
          <p:cNvSpPr txBox="1"/>
          <p:nvPr/>
        </p:nvSpPr>
        <p:spPr>
          <a:xfrm>
            <a:off x="8204200" y="5029200"/>
            <a:ext cx="3721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1"/>
          <p:cNvSpPr txBox="1"/>
          <p:nvPr/>
        </p:nvSpPr>
        <p:spPr>
          <a:xfrm>
            <a:off x="8204200" y="5410200"/>
            <a:ext cx="372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PURCHASES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1"/>
          <p:cNvSpPr txBox="1"/>
          <p:nvPr/>
        </p:nvSpPr>
        <p:spPr>
          <a:xfrm>
            <a:off x="8204200" y="5613400"/>
            <a:ext cx="3721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$14.87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1"/>
          <p:cNvSpPr txBox="1"/>
          <p:nvPr/>
        </p:nvSpPr>
        <p:spPr>
          <a:xfrm>
            <a:off x="8204200" y="5918200"/>
            <a:ext cx="372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7AB0CC"/>
                </a:solidFill>
                <a:latin typeface="Poppins"/>
                <a:ea typeface="Poppins"/>
                <a:cs typeface="Poppins"/>
                <a:sym typeface="Poppins"/>
              </a:rPr>
              <a:t>COST PER PURCHASES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0" y="6324600"/>
            <a:ext cx="3314700" cy="101600"/>
          </a:xfrm>
          <a:prstGeom prst="rect">
            <a:avLst/>
          </a:prstGeom>
          <a:solidFill>
            <a:srgbClr val="F6AD5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3314700" y="6324600"/>
            <a:ext cx="4406900" cy="1016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1"/>
          <p:cNvSpPr/>
          <p:nvPr/>
        </p:nvSpPr>
        <p:spPr>
          <a:xfrm>
            <a:off x="7721600" y="6324600"/>
            <a:ext cx="4457700" cy="101600"/>
          </a:xfrm>
          <a:prstGeom prst="rect">
            <a:avLst/>
          </a:prstGeom>
          <a:solidFill>
            <a:srgbClr val="68D39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2"/>
          <p:cNvSpPr/>
          <p:nvPr/>
        </p:nvSpPr>
        <p:spPr>
          <a:xfrm>
            <a:off x="480031" y="1502330"/>
            <a:ext cx="11205600" cy="648000"/>
          </a:xfrm>
          <a:prstGeom prst="rect">
            <a:avLst/>
          </a:prstGeom>
          <a:gradFill>
            <a:gsLst>
              <a:gs pos="0">
                <a:schemeClr val="accent2"/>
              </a:gs>
              <a:gs pos="5000">
                <a:schemeClr val="accent2"/>
              </a:gs>
              <a:gs pos="41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aphicFrame>
        <p:nvGraphicFramePr>
          <p:cNvPr id="325" name="Google Shape;325;p12"/>
          <p:cNvGraphicFramePr/>
          <p:nvPr/>
        </p:nvGraphicFramePr>
        <p:xfrm>
          <a:off x="480029" y="148836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{E530A443-7182-4D04-9DF8-60CD379C16A3}</a:tableStyleId>
              </a:tblPr>
              <a:tblGrid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  <a:gridCol w="936000"/>
              </a:tblGrid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Month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Ad Spend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Reach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i="0" lang="en-US" sz="10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Impressions</a:t>
                      </a:r>
                      <a:endParaRPr b="1" i="0" sz="10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CTR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CPC (All)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META FORM LEADS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COST PER LEAD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WEB LEADS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COST PER WEB LEAD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PURCHASE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200"/>
                        <a:buFont typeface="Poppins SemiBold"/>
                        <a:buNone/>
                      </a:pPr>
                      <a:r>
                        <a:rPr b="1" lang="en-US" sz="1100" u="none" cap="none" strike="noStrike">
                          <a:solidFill>
                            <a:schemeClr val="lt1"/>
                          </a:solidFill>
                          <a:latin typeface="Poppins SemiBold"/>
                          <a:ea typeface="Poppins SemiBold"/>
                          <a:cs typeface="Poppins SemiBold"/>
                          <a:sym typeface="Poppins SemiBold"/>
                        </a:rPr>
                        <a:t>COST PER PURCHASE</a:t>
                      </a:r>
                      <a:endParaRPr b="1" i="0" sz="1200" u="none" cap="none" strike="noStrike">
                        <a:solidFill>
                          <a:schemeClr val="lt1"/>
                        </a:solidFill>
                        <a:latin typeface="Poppins SemiBold"/>
                        <a:ea typeface="Poppins SemiBold"/>
                        <a:cs typeface="Poppins SemiBold"/>
                        <a:sym typeface="Poppins SemiBold"/>
                      </a:endParaRPr>
                    </a:p>
                  </a:txBody>
                  <a:tcPr marT="0" marB="0" marR="63500" marL="63500" anchor="ctr">
                    <a:lnL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July 1 - 31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$582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118,555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326,044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0.07%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$2.60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33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$17.63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N/A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0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N/A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F35"/>
                    </a:solidFill>
                  </a:tcPr>
                </a:tc>
              </a:tr>
              <a:tr h="64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1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Aug 1 - 20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$1,846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37,578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51,102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1.88%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$1.92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80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$8.95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18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$7.61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15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1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cap="none" strike="noStrike">
                          <a:solidFill>
                            <a:schemeClr val="lt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$14.87</a:t>
                      </a:r>
                      <a:endParaRPr sz="1200" u="none" cap="none" strike="noStrike">
                        <a:solidFill>
                          <a:schemeClr val="lt1"/>
                        </a:solidFill>
                        <a:latin typeface="Poppins"/>
                        <a:ea typeface="Poppins"/>
                        <a:cs typeface="Poppins"/>
                        <a:sym typeface="Poppins"/>
                      </a:endParaRPr>
                    </a:p>
                  </a:txBody>
                  <a:tcPr marT="63500" marB="635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326" name="Google Shape;326;p12"/>
          <p:cNvSpPr txBox="1"/>
          <p:nvPr/>
        </p:nvSpPr>
        <p:spPr>
          <a:xfrm>
            <a:off x="379384" y="426192"/>
            <a:ext cx="114333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MONTHLY CAMPAIGN PERFORMANCE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3"/>
          <p:cNvSpPr txBox="1"/>
          <p:nvPr/>
        </p:nvSpPr>
        <p:spPr>
          <a:xfrm>
            <a:off x="379384" y="426192"/>
            <a:ext cx="114333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2800" u="none" cap="none" strike="noStrike">
                <a:solidFill>
                  <a:srgbClr val="94A3B8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METRIC ABBREVIATION GUIDE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2" name="Google Shape;332;p13"/>
          <p:cNvGrpSpPr/>
          <p:nvPr/>
        </p:nvGrpSpPr>
        <p:grpSpPr>
          <a:xfrm>
            <a:off x="460447" y="1257589"/>
            <a:ext cx="11274353" cy="5103767"/>
            <a:chOff x="460447" y="1257589"/>
            <a:chExt cx="11274353" cy="5103767"/>
          </a:xfrm>
        </p:grpSpPr>
        <p:grpSp>
          <p:nvGrpSpPr>
            <p:cNvPr id="333" name="Google Shape;333;p13"/>
            <p:cNvGrpSpPr/>
            <p:nvPr/>
          </p:nvGrpSpPr>
          <p:grpSpPr>
            <a:xfrm>
              <a:off x="460447" y="1257589"/>
              <a:ext cx="11261996" cy="1132156"/>
              <a:chOff x="460447" y="1257589"/>
              <a:chExt cx="11261996" cy="1132156"/>
            </a:xfrm>
          </p:grpSpPr>
          <p:grpSp>
            <p:nvGrpSpPr>
              <p:cNvPr id="334" name="Google Shape;334;p13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335" name="Google Shape;335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6" name="Google Shape;336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37" name="Google Shape;337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38" name="Google Shape;338;p13"/>
                  <p:cNvPicPr preferRelativeResize="0"/>
                  <p:nvPr/>
                </p:nvPicPr>
                <p:blipFill rotWithShape="1">
                  <a:blip r:embed="rId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39" name="Google Shape;339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REACH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0" name="Google Shape;340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unique users who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1" name="Google Shape;341;p13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342" name="Google Shape;342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3" name="Google Shape;343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44" name="Google Shape;344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45" name="Google Shape;345;p13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46" name="Google Shape;346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LINK CLICKS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7" name="Google Shape;347;p13"/>
                <p:cNvSpPr txBox="1"/>
                <p:nvPr/>
              </p:nvSpPr>
              <p:spPr>
                <a:xfrm>
                  <a:off x="1518248" y="1777988"/>
                  <a:ext cx="2500299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actual number of clicks on links within the ad, leading to your chosen destination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48" name="Google Shape;348;p13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349" name="Google Shape;349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0" name="Google Shape;350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51" name="Google Shape;351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52" name="Google Shape;352;p13"/>
                  <p:cNvPicPr preferRelativeResize="0"/>
                  <p:nvPr/>
                </p:nvPicPr>
                <p:blipFill rotWithShape="1">
                  <a:blip r:embed="rId5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53" name="Google Shape;353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QUOTE REQUEST SUBMITTED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4" name="Google Shape;354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QUOTE REQUEST SUBMITTED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55" name="Google Shape;355;p13"/>
            <p:cNvGrpSpPr/>
            <p:nvPr/>
          </p:nvGrpSpPr>
          <p:grpSpPr>
            <a:xfrm>
              <a:off x="460447" y="2581459"/>
              <a:ext cx="11261996" cy="1132156"/>
              <a:chOff x="460447" y="1257589"/>
              <a:chExt cx="11261996" cy="1132156"/>
            </a:xfrm>
          </p:grpSpPr>
          <p:grpSp>
            <p:nvGrpSpPr>
              <p:cNvPr id="356" name="Google Shape;356;p13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357" name="Google Shape;357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8" name="Google Shape;358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59" name="Google Shape;359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60" name="Google Shape;360;p13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61" name="Google Shape;361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IMPRESSIONS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" name="Google Shape;362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total number of times your ad was displayed on users' screens.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63" name="Google Shape;363;p13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364" name="Google Shape;364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5" name="Google Shape;365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66" name="Google Shape;366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67" name="Google Shape;367;p13"/>
                  <p:cNvPicPr preferRelativeResize="0"/>
                  <p:nvPr/>
                </p:nvPicPr>
                <p:blipFill rotWithShape="1">
                  <a:blip r:embed="rId7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68" name="Google Shape;368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COST PER QUOTE REQUEST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9" name="Google Shape;369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COST PER QUOTE REQUEST SUBMITTED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70" name="Google Shape;370;p13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371" name="Google Shape;371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72" name="Google Shape;372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73" name="Google Shape;373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74" name="Google Shape;374;p13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75" name="Google Shape;375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COST PER LINK CLICK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6" name="Google Shape;376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Average cost for each link click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77" name="Google Shape;377;p13"/>
            <p:cNvGrpSpPr/>
            <p:nvPr/>
          </p:nvGrpSpPr>
          <p:grpSpPr>
            <a:xfrm>
              <a:off x="460447" y="3905329"/>
              <a:ext cx="11274353" cy="1132156"/>
              <a:chOff x="460447" y="1257589"/>
              <a:chExt cx="11274353" cy="1132156"/>
            </a:xfrm>
          </p:grpSpPr>
          <p:grpSp>
            <p:nvGrpSpPr>
              <p:cNvPr id="378" name="Google Shape;378;p13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379" name="Google Shape;379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0" name="Google Shape;380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81" name="Google Shape;381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82" name="Google Shape;382;p13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83" name="Google Shape;383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AD FREQUENCY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4" name="Google Shape;384;p13"/>
                <p:cNvSpPr txBox="1"/>
                <p:nvPr/>
              </p:nvSpPr>
              <p:spPr>
                <a:xfrm>
                  <a:off x="1518248" y="1777988"/>
                  <a:ext cx="2500200" cy="397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number of times each person in your reach saw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85" name="Google Shape;385;p13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386" name="Google Shape;386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87" name="Google Shape;387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88" name="Google Shape;388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89" name="Google Shape;389;p13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90" name="Google Shape;390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CPC </a:t>
                  </a:r>
                  <a:r>
                    <a:rPr b="0" i="0" lang="en-US" sz="12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CLICK)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1" name="Google Shape;391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average cost you paid for each click on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92" name="Google Shape;392;p13"/>
              <p:cNvGrpSpPr/>
              <p:nvPr/>
            </p:nvGrpSpPr>
            <p:grpSpPr>
              <a:xfrm>
                <a:off x="8116216" y="1257589"/>
                <a:ext cx="3618584" cy="1132156"/>
                <a:chOff x="460447" y="1317747"/>
                <a:chExt cx="3618584" cy="1132156"/>
              </a:xfrm>
            </p:grpSpPr>
            <p:sp>
              <p:nvSpPr>
                <p:cNvPr id="393" name="Google Shape;393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4" name="Google Shape;394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395" name="Google Shape;395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396" name="Google Shape;396;p13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397" name="Google Shape;397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LEARNING PHASE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8" name="Google Shape;398;p13"/>
                <p:cNvSpPr txBox="1"/>
                <p:nvPr/>
              </p:nvSpPr>
              <p:spPr>
                <a:xfrm>
                  <a:off x="1518248" y="1777988"/>
                  <a:ext cx="2560783" cy="58400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period during which Facebook's algorithm is learning the best ways to  achieve your campaign objective.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99" name="Google Shape;399;p13"/>
            <p:cNvGrpSpPr/>
            <p:nvPr/>
          </p:nvGrpSpPr>
          <p:grpSpPr>
            <a:xfrm>
              <a:off x="460447" y="5229200"/>
              <a:ext cx="11261996" cy="1132156"/>
              <a:chOff x="460447" y="1257589"/>
              <a:chExt cx="11261996" cy="1132156"/>
            </a:xfrm>
          </p:grpSpPr>
          <p:grpSp>
            <p:nvGrpSpPr>
              <p:cNvPr id="400" name="Google Shape;400;p13"/>
              <p:cNvGrpSpPr/>
              <p:nvPr/>
            </p:nvGrpSpPr>
            <p:grpSpPr>
              <a:xfrm>
                <a:off x="460447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401" name="Google Shape;401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02" name="Google Shape;402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403" name="Google Shape;403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404" name="Google Shape;404;p13"/>
                  <p:cNvPicPr preferRelativeResize="0"/>
                  <p:nvPr/>
                </p:nvPicPr>
                <p:blipFill rotWithShape="1">
                  <a:blip r:embed="rId12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405" name="Google Shape;405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CTR </a:t>
                  </a:r>
                  <a:r>
                    <a:rPr b="0" i="0" lang="en-US" sz="12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(CLICK-THROUGH RATE)</a:t>
                  </a:r>
                  <a:endParaRPr b="0" i="0" sz="1400" u="none" cap="none" strike="noStrike">
                    <a:solidFill>
                      <a:schemeClr val="lt1"/>
                    </a:solidFill>
                    <a:latin typeface="Poppins Medium"/>
                    <a:ea typeface="Poppins Medium"/>
                    <a:cs typeface="Poppins Medium"/>
                    <a:sym typeface="Poppins Medium"/>
                  </a:endParaRPr>
                </a:p>
              </p:txBody>
            </p:sp>
            <p:sp>
              <p:nvSpPr>
                <p:cNvPr id="406" name="Google Shape;406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percentage of people who saw your ad and performed a click on it.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07" name="Google Shape;407;p13"/>
              <p:cNvGrpSpPr/>
              <p:nvPr/>
            </p:nvGrpSpPr>
            <p:grpSpPr>
              <a:xfrm>
                <a:off x="4288332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408" name="Google Shape;408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09" name="Google Shape;409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410" name="Google Shape;410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411" name="Google Shape;411;p13"/>
                  <p:cNvPicPr preferRelativeResize="0"/>
                  <p:nvPr/>
                </p:nvPicPr>
                <p:blipFill rotWithShape="1">
                  <a:blip r:embed="rId13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412" name="Google Shape;412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CPM </a:t>
                  </a:r>
                  <a:r>
                    <a:rPr b="0" i="0" lang="en-US" sz="12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(COST PER MILLE)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3" name="Google Shape;413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cost you paid for a thousand impressions of your ad.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14" name="Google Shape;414;p13"/>
              <p:cNvGrpSpPr/>
              <p:nvPr/>
            </p:nvGrpSpPr>
            <p:grpSpPr>
              <a:xfrm>
                <a:off x="8116216" y="1257589"/>
                <a:ext cx="3606227" cy="1132156"/>
                <a:chOff x="460447" y="1317747"/>
                <a:chExt cx="3606227" cy="1132156"/>
              </a:xfrm>
            </p:grpSpPr>
            <p:sp>
              <p:nvSpPr>
                <p:cNvPr id="415" name="Google Shape;415;p13"/>
                <p:cNvSpPr/>
                <p:nvPr/>
              </p:nvSpPr>
              <p:spPr>
                <a:xfrm>
                  <a:off x="460447" y="1317747"/>
                  <a:ext cx="3606227" cy="1132156"/>
                </a:xfrm>
                <a:prstGeom prst="roundRect">
                  <a:avLst>
                    <a:gd fmla="val 12280" name="adj"/>
                  </a:avLst>
                </a:prstGeom>
                <a:solidFill>
                  <a:schemeClr val="accent5"/>
                </a:solidFill>
                <a:ln>
                  <a:noFill/>
                </a:ln>
                <a:effectLst>
                  <a:outerShdw blurRad="190500" sx="99000" rotWithShape="0" algn="t" dir="5400000" dist="63500" sy="99000">
                    <a:srgbClr val="000000">
                      <a:alpha val="20000"/>
                    </a:srgbClr>
                  </a:outerShdw>
                </a:effectLst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t/>
                  </a:r>
                  <a:endParaRPr b="0" i="0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6" name="Google Shape;416;p13"/>
                <p:cNvGrpSpPr/>
                <p:nvPr/>
              </p:nvGrpSpPr>
              <p:grpSpPr>
                <a:xfrm>
                  <a:off x="665729" y="1509668"/>
                  <a:ext cx="697245" cy="697245"/>
                  <a:chOff x="3105456" y="1218956"/>
                  <a:chExt cx="1116000" cy="1116000"/>
                </a:xfrm>
              </p:grpSpPr>
              <p:sp>
                <p:nvSpPr>
                  <p:cNvPr id="417" name="Google Shape;417;p13"/>
                  <p:cNvSpPr/>
                  <p:nvPr/>
                </p:nvSpPr>
                <p:spPr>
                  <a:xfrm>
                    <a:off x="3105456" y="1218956"/>
                    <a:ext cx="1116000" cy="1116000"/>
                  </a:xfrm>
                  <a:custGeom>
                    <a:rect b="b" l="l" r="r" t="t"/>
                    <a:pathLst>
                      <a:path extrusionOk="0" h="2924226" w="2924226">
                        <a:moveTo>
                          <a:pt x="2924227" y="1462113"/>
                        </a:moveTo>
                        <a:cubicBezTo>
                          <a:pt x="2924227" y="2269616"/>
                          <a:pt x="2269616" y="2924227"/>
                          <a:pt x="1462113" y="2924227"/>
                        </a:cubicBezTo>
                        <a:cubicBezTo>
                          <a:pt x="654609" y="2924227"/>
                          <a:pt x="-1" y="2269616"/>
                          <a:pt x="-1" y="1462113"/>
                        </a:cubicBezTo>
                        <a:cubicBezTo>
                          <a:pt x="-1" y="654610"/>
                          <a:pt x="654609" y="0"/>
                          <a:pt x="1462113" y="0"/>
                        </a:cubicBezTo>
                        <a:cubicBezTo>
                          <a:pt x="2269616" y="0"/>
                          <a:pt x="2924227" y="654610"/>
                          <a:pt x="2924227" y="1462113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2"/>
                      </a:gs>
                      <a:gs pos="5000">
                        <a:schemeClr val="accent2"/>
                      </a:gs>
                      <a:gs pos="34000">
                        <a:schemeClr val="accent1"/>
                      </a:gs>
                      <a:gs pos="64000">
                        <a:schemeClr val="accent3"/>
                      </a:gs>
                      <a:gs pos="90000">
                        <a:schemeClr val="accent4"/>
                      </a:gs>
                      <a:gs pos="100000">
                        <a:schemeClr val="accent4"/>
                      </a:gs>
                    </a:gsLst>
                    <a:lin ang="2700000" scaled="0"/>
                  </a:gradFill>
                  <a:ln>
                    <a:noFill/>
                  </a:ln>
                  <a:effectLst>
                    <a:outerShdw blurRad="190500" sx="99000" rotWithShape="0" algn="t" dir="5400000" dist="63500" sy="99000">
                      <a:srgbClr val="000000">
                        <a:alpha val="20000"/>
                      </a:srgbClr>
                    </a:outerShdw>
                  </a:effectLst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300"/>
                      <a:buFont typeface="Arial"/>
                      <a:buNone/>
                    </a:pPr>
                    <a:r>
                      <a:t/>
                    </a:r>
                    <a:endParaRPr b="0" i="0" sz="1300" u="none" cap="none" strike="noStrike">
                      <a:solidFill>
                        <a:schemeClr val="accen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pic>
                <p:nvPicPr>
                  <p:cNvPr id="418" name="Google Shape;418;p13"/>
                  <p:cNvPicPr preferRelativeResize="0"/>
                  <p:nvPr/>
                </p:nvPicPr>
                <p:blipFill rotWithShape="1">
                  <a:blip r:embed="rId14">
                    <a:alphaModFix/>
                  </a:blip>
                  <a:srcRect b="0" l="0" r="0" t="0"/>
                  <a:stretch/>
                </p:blipFill>
                <p:spPr>
                  <a:xfrm>
                    <a:off x="3393457" y="1506957"/>
                    <a:ext cx="540001" cy="54000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>
                    <a:outerShdw blurRad="177800" rotWithShape="0" algn="tl" dir="2700000" dist="114300">
                      <a:srgbClr val="000000">
                        <a:alpha val="40000"/>
                      </a:srgbClr>
                    </a:outerShdw>
                  </a:effectLst>
                </p:spPr>
              </p:pic>
            </p:grpSp>
            <p:sp>
              <p:nvSpPr>
                <p:cNvPr id="419" name="Google Shape;419;p13"/>
                <p:cNvSpPr txBox="1"/>
                <p:nvPr/>
              </p:nvSpPr>
              <p:spPr>
                <a:xfrm>
                  <a:off x="1519322" y="1499709"/>
                  <a:ext cx="2451099" cy="30777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lt1"/>
                      </a:solidFill>
                      <a:latin typeface="Poppins Medium"/>
                      <a:ea typeface="Poppins Medium"/>
                      <a:cs typeface="Poppins Medium"/>
                      <a:sym typeface="Poppins Medium"/>
                    </a:rPr>
                    <a:t>CONVERSIONS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0" name="Google Shape;420;p13"/>
                <p:cNvSpPr txBox="1"/>
                <p:nvPr/>
              </p:nvSpPr>
              <p:spPr>
                <a:xfrm>
                  <a:off x="1518248" y="1777988"/>
                  <a:ext cx="2500299" cy="4178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0" spcFirstLastPara="1" rIns="91425" wrap="square" tIns="45700">
                  <a:normAutofit/>
                </a:bodyPr>
                <a:lstStyle/>
                <a:p>
                  <a:pPr indent="0" lvl="0" marL="0" marR="0" rtl="0" algn="l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900"/>
                    <a:buFont typeface="Arial"/>
                    <a:buNone/>
                  </a:pPr>
                  <a:r>
                    <a:rPr b="0" i="0" lang="en-US" sz="1200" u="none" cap="none" strike="noStrike">
                      <a:solidFill>
                        <a:srgbClr val="BFBFBF"/>
                      </a:solidFill>
                      <a:latin typeface="Poppins"/>
                      <a:ea typeface="Poppins"/>
                      <a:cs typeface="Poppins"/>
                      <a:sym typeface="Poppins"/>
                    </a:rPr>
                    <a:t>The number of users who have completed a desired action.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41F46"/>
      </a:accent5>
      <a:accent6>
        <a:srgbClr val="0D142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XoomGrahpic 2">
      <a:dk1>
        <a:srgbClr val="000000"/>
      </a:dk1>
      <a:lt1>
        <a:srgbClr val="FFFFFF"/>
      </a:lt1>
      <a:dk2>
        <a:srgbClr val="2D3847"/>
      </a:dk2>
      <a:lt2>
        <a:srgbClr val="E7E6E6"/>
      </a:lt2>
      <a:accent1>
        <a:srgbClr val="FF3200"/>
      </a:accent1>
      <a:accent2>
        <a:srgbClr val="FFB300"/>
      </a:accent2>
      <a:accent3>
        <a:srgbClr val="DA32D0"/>
      </a:accent3>
      <a:accent4>
        <a:srgbClr val="016ED9"/>
      </a:accent4>
      <a:accent5>
        <a:srgbClr val="141F46"/>
      </a:accent5>
      <a:accent6>
        <a:srgbClr val="0D142F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